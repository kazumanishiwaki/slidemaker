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25" Target="fonts/font3.fntdata" Type="http://schemas.openxmlformats.org/officeDocument/2006/relationships/font"/><Relationship Id="rId26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2" Target="../media/image11.png" Type="http://schemas.openxmlformats.org/officeDocument/2006/relationships/image"/><Relationship Id="rId3" Target="../media/image15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2" Target="../media/image1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2" Target="../media/image11.png" Type="http://schemas.openxmlformats.org/officeDocument/2006/relationships/image"/><Relationship Id="rId3" Target="../media/image15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1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69.png" Type="http://schemas.openxmlformats.org/officeDocument/2006/relationships/image"/><Relationship Id="rId4" Target="../media/image15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2" Target="../media/image11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15.png" Type="http://schemas.openxmlformats.org/officeDocument/2006/relationships/image"/><Relationship Id="rId12" Target="../media/image91.png" Type="http://schemas.openxmlformats.org/officeDocument/2006/relationships/image"/><Relationship Id="rId2" Target="../media/image11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85500" y="5168900"/>
            <a:ext cx="2425700" cy="1981200"/>
          </a:xfrm>
          <a:prstGeom prst="rect">
            <a:avLst/>
          </a:prstGeom>
        </p:spPr>
        <p:txBody>
          <a:bodyPr anchor="t" rtlCol="false" lIns="0" tIns="209083" rIns="0" bIns="0"/>
          <a:lstStyle/>
          <a:p>
            <a:pPr algn="ctr" lvl="0">
              <a:lnSpc>
                <a:spcPct val="91299"/>
              </a:lnSpc>
            </a:pPr>
            <a:r>
              <a:rPr lang="en-US" sz="1097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0800" y="7099300"/>
            <a:ext cx="11595100" cy="1130300"/>
          </a:xfrm>
          <a:prstGeom prst="rect">
            <a:avLst/>
          </a:prstGeom>
        </p:spPr>
        <p:txBody>
          <a:bodyPr anchor="t" rtlCol="false" lIns="0" tIns="78693" rIns="0" bIns="0"/>
          <a:lstStyle/>
          <a:p>
            <a:pPr algn="ctr" lvl="0">
              <a:lnSpc>
                <a:spcPct val="99600"/>
              </a:lnSpc>
            </a:pPr>
            <a:r>
              <a:rPr lang="en-US" sz="619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タイトルを入力してください。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8200" y="8369300"/>
            <a:ext cx="10007600" cy="596900"/>
          </a:xfrm>
          <a:prstGeom prst="rect">
            <a:avLst/>
          </a:prstGeom>
        </p:spPr>
        <p:txBody>
          <a:bodyPr anchor="t" rtlCol="false" lIns="0" tIns="40640" rIns="0" bIns="0"/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ここにはタイトルを補足する内容を記入してください。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937000" y="-63500"/>
            <a:ext cx="6083300" cy="3467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6731000"/>
            <a:ext cx="133858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652000" y="66929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主な内容を要約したタイトルを入力しましょう。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52000" y="74422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キーワードを使って重要な内容を強調してみましょう。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3400" y="64516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18400" y="67310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8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2679700"/>
            <a:ext cx="13385800" cy="635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0" y="26543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目次のタイトルを入力してください。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2000" y="33909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各セクションの主な内容を簡単に要約しましょう。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3400" y="24130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18400" y="26797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10769600"/>
            <a:ext cx="13385800" cy="635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639300" y="10744200"/>
            <a:ext cx="110236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タイトルだけでも内容を簡単に把握できるようにしてください。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2000" y="114808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各サブテーマがメインタイトルと関連付くようにしてください。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53400" y="105029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218400" y="107696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15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8750300"/>
            <a:ext cx="13385800" cy="635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652000" y="87122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目次を論理的な順序で構成しましょう。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2000" y="94615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サブタイトルを論理的な流れに合わせて配置してみましょう。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53400" y="84709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18400" y="87503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12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12300" y="4699000"/>
            <a:ext cx="13385800" cy="635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9652000" y="4673600"/>
            <a:ext cx="106299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l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テーマがわかるタイトルを入力しましょう。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2000" y="5422900"/>
            <a:ext cx="10833100" cy="406400"/>
          </a:xfrm>
          <a:prstGeom prst="rect">
            <a:avLst/>
          </a:prstGeom>
        </p:spPr>
        <p:txBody>
          <a:bodyPr anchor="t" rtlCol="false" lIns="0" tIns="26772" rIns="0" bIns="0"/>
          <a:lstStyle/>
          <a:p>
            <a:pPr algn="l" lvl="0">
              <a:lnSpc>
                <a:spcPct val="99600"/>
              </a:lnSpc>
            </a:pPr>
            <a:r>
              <a:rPr lang="en-US" sz="2108" b="false" i="false" u="none" strike="noStrike">
                <a:solidFill>
                  <a:srgbClr val="000000">
                    <a:alpha val="65098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主な内容を行頭文字を使って整理してみましょう。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53400" y="4432300"/>
            <a:ext cx="1435100" cy="1244600"/>
          </a:xfrm>
          <a:prstGeom prst="rect">
            <a:avLst/>
          </a:prstGeom>
        </p:spPr>
        <p:txBody>
          <a:bodyPr anchor="t" rtlCol="false" lIns="0" tIns="86361" rIns="0" bIns="0"/>
          <a:lstStyle/>
          <a:p>
            <a:pPr algn="l" lvl="0">
              <a:lnSpc>
                <a:spcPct val="99600"/>
              </a:lnSpc>
            </a:pPr>
            <a:r>
              <a:rPr lang="en-US" sz="6800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218400" y="4699000"/>
            <a:ext cx="1219200" cy="584200"/>
          </a:xfrm>
          <a:prstGeom prst="rect">
            <a:avLst/>
          </a:prstGeom>
        </p:spPr>
        <p:txBody>
          <a:bodyPr anchor="t" rtlCol="false" lIns="0" tIns="39727" rIns="0" bIns="0"/>
          <a:lstStyle/>
          <a:p>
            <a:pPr algn="r" lvl="0">
              <a:lnSpc>
                <a:spcPct val="99600"/>
              </a:lnSpc>
            </a:pPr>
            <a:r>
              <a:rPr lang="en-US" sz="3128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p 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6200" y="2349500"/>
            <a:ext cx="3162300" cy="1333500"/>
          </a:xfrm>
          <a:prstGeom prst="rect">
            <a:avLst/>
          </a:prstGeom>
        </p:spPr>
        <p:txBody>
          <a:bodyPr anchor="t" rtlCol="false" lIns="0" tIns="93172" rIns="0" bIns="0"/>
          <a:lstStyle/>
          <a:p>
            <a:pPr algn="l" lvl="0">
              <a:lnSpc>
                <a:spcPct val="99600"/>
              </a:lnSpc>
            </a:pPr>
            <a:r>
              <a:rPr lang="en-US" sz="733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目次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6200" y="3556000"/>
            <a:ext cx="2730500" cy="711200"/>
          </a:xfrm>
          <a:prstGeom prst="rect">
            <a:avLst/>
          </a:prstGeom>
        </p:spPr>
        <p:txBody>
          <a:bodyPr anchor="t" rtlCol="false" lIns="0" tIns="48231" rIns="0" bIns="0"/>
          <a:lstStyle/>
          <a:p>
            <a:pPr algn="l" lvl="0">
              <a:lnSpc>
                <a:spcPct val="99600"/>
              </a:lnSpc>
            </a:pPr>
            <a:r>
              <a:rPr lang="en-US" sz="3797" b="fals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CONTENT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3200" y="9690100"/>
            <a:ext cx="4648200" cy="222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* このプレゼンテーションは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一度に全体の色を変えて使用できます。 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コンセプトに合わせて似合う色に変えて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編集してみてください。</a:t>
            </a:r>
          </a:p>
          <a:p>
            <a:pPr algn="l" lvl="0">
              <a:lnSpc>
                <a:spcPct val="12035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l" lvl="0">
              <a:lnSpc>
                <a:spcPct val="120350"/>
              </a:lnSpc>
            </a:pPr>
            <a:r>
              <a:rPr lang="en-US" sz="2000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この内容を消して使ってみましょう。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857500"/>
            <a:ext cx="22644100" cy="9753600"/>
          </a:xfrm>
          <a:prstGeom prst="rect">
            <a:avLst/>
          </a:prstGeom>
          <a:effectLst>
            <a:outerShdw dir="2700000" dist="0" blurRad="48768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7200" y="3797300"/>
            <a:ext cx="10020300" cy="816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71400" y="4305300"/>
            <a:ext cx="101727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長文テキスト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分量の多いテキストを入力する際に便利なページです。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71400" y="5092700"/>
            <a:ext cx="10198100" cy="668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重要な内容や長文で意見を述べたい場合には当該ページをご活用ください。 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プレゼンは読みやすさが命です。読みやすさの核心は内容を簡潔に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伝えることです。 簡単に読めて且つ目立つことが重要です。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プレゼンテーションの全体的なトーン＆マナーと合うフォントや色を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活用してください。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コメントの中で強調したい部分は太字にしたりサイズを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大きくしてみてください。 具体的な例や数値などを活用すれば信頼度を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高めることができます。もちろん形式や構成と関係なくテキストを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自由に入力してもいいです。 テキストが多くても見る人が退屈しないように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視覚的な効果を活用してみましょう。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重要な内容や長文で意見を述べたい場合には当該ページをご活用ください。 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プレゼンは読みやすさが命です。読みやすさの核心は内容を簡潔に</a:t>
            </a:r>
          </a:p>
          <a:p>
            <a:pPr algn="l" lvl="0">
              <a:lnSpc>
                <a:spcPct val="132800"/>
              </a:lnSpc>
            </a:pPr>
            <a:r>
              <a:rPr lang="en-US" sz="235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伝えることです。 簡単に読めて且つ目立つことが重要です。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71400" y="3962400"/>
            <a:ext cx="10236200" cy="736600"/>
          </a:xfrm>
          <a:prstGeom prst="rect">
            <a:avLst/>
          </a:prstGeom>
        </p:spPr>
        <p:txBody>
          <a:bodyPr anchor="t" rtlCol="false" lIns="0" tIns="50443" rIns="0" bIns="0"/>
          <a:lstStyle/>
          <a:p>
            <a:pPr algn="l" lvl="0">
              <a:lnSpc>
                <a:spcPct val="99600"/>
              </a:lnSpc>
            </a:pPr>
            <a:r>
              <a:rPr lang="en-US" sz="39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内容を要約して入力してください。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活動内容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グラフで色々な項目の数値を比較してみましょう。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14600" y="2857500"/>
            <a:ext cx="9779000" cy="9525000"/>
          </a:xfrm>
          <a:prstGeom prst="rect">
            <a:avLst/>
          </a:prstGeom>
          <a:effectLst>
            <a:outerShdw dir="2700000" dist="0" blurRad="476250">
              <a:srgbClr val="000000">
                <a:alpha val="12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34900" y="2857500"/>
            <a:ext cx="9779000" cy="9525000"/>
          </a:xfrm>
          <a:prstGeom prst="rect">
            <a:avLst/>
          </a:prstGeom>
          <a:effectLst>
            <a:outerShdw dir="2700000" dist="0" blurRad="47625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13423900" y="3505200"/>
            <a:ext cx="8128000" cy="554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3924300" y="3835400"/>
            <a:ext cx="6959600" cy="4876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045200" y="6121400"/>
            <a:ext cx="2438400" cy="1206500"/>
          </a:xfrm>
          <a:prstGeom prst="rect">
            <a:avLst/>
          </a:prstGeom>
        </p:spPr>
        <p:txBody>
          <a:bodyPr anchor="t" rtlCol="false" lIns="0" tIns="84140" rIns="0" bIns="0"/>
          <a:lstStyle/>
          <a:p>
            <a:pPr algn="ctr" lvl="0">
              <a:lnSpc>
                <a:spcPct val="99600"/>
              </a:lnSpc>
            </a:pPr>
            <a:r>
              <a:rPr lang="en-US" sz="662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70</a:t>
            </a:r>
            <a:r>
              <a:rPr lang="en-US" sz="435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056100" y="3975100"/>
            <a:ext cx="2032000" cy="203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2667000" y="9372600"/>
            <a:ext cx="9537700" cy="6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195800" y="4470400"/>
            <a:ext cx="17526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9518"/>
              </a:lnSpc>
            </a:pPr>
            <a:r>
              <a:rPr lang="en-US" sz="2284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急成長</a:t>
            </a:r>
          </a:p>
          <a:p>
            <a:pPr algn="ctr" lvl="0">
              <a:lnSpc>
                <a:spcPct val="119518"/>
              </a:lnSpc>
            </a:pPr>
            <a:r>
              <a:rPr lang="en-US" sz="3066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ポイント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55000" y="4826000"/>
            <a:ext cx="1282700" cy="647700"/>
          </a:xfrm>
          <a:prstGeom prst="rect">
            <a:avLst/>
          </a:prstGeom>
        </p:spPr>
        <p:txBody>
          <a:bodyPr anchor="t" rtlCol="false" lIns="0" tIns="43906" rIns="0" bIns="0"/>
          <a:lstStyle/>
          <a:p>
            <a:pPr algn="ctr" lvl="0">
              <a:lnSpc>
                <a:spcPct val="99600"/>
              </a:lnSpc>
            </a:pPr>
            <a:r>
              <a:rPr lang="en-US" sz="3457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20</a:t>
            </a:r>
            <a:r>
              <a:rPr lang="en-US" sz="2560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8900" y="5969000"/>
            <a:ext cx="1155700" cy="584200"/>
          </a:xfrm>
          <a:prstGeom prst="rect">
            <a:avLst/>
          </a:prstGeom>
        </p:spPr>
        <p:txBody>
          <a:bodyPr anchor="t" rtlCol="false" lIns="0" tIns="39352" rIns="0" bIns="0"/>
          <a:lstStyle/>
          <a:p>
            <a:pPr algn="ctr" lvl="0">
              <a:lnSpc>
                <a:spcPct val="99600"/>
              </a:lnSpc>
            </a:pPr>
            <a:r>
              <a:rPr lang="en-US" sz="3098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10</a:t>
            </a:r>
            <a:r>
              <a:rPr lang="en-US" sz="2295" b="false" i="false" u="none" strike="noStrike">
                <a:solidFill>
                  <a:srgbClr val="FF9A42">
                    <a:alpha val="50196"/>
                  </a:srgbClr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6900" y="9753600"/>
            <a:ext cx="84836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製品別市場シェア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24200" y="10566400"/>
            <a:ext cx="85090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円グラフは項目の比重を直観的に分かりやすく表現します。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全体のうち各項目が占める割合を示してみましょう。目標達成率や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予算配分率を視覚的に表現するために使用してみましょう。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12712700" y="9385300"/>
            <a:ext cx="9537700" cy="63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3169900" y="9753600"/>
            <a:ext cx="84836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四半期別売上成績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69900" y="10579100"/>
            <a:ext cx="85090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エリアチャートは、数値の推移と構成比を同時に視覚化でき、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四半期ごとの売上やコストの変化を把握するのに適しています。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全体と項目別の変化を捉え、戦略判断に役立ちます。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3項目のテキスト構成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このページのレイアウトを活用し、様々な内容をわかりやすくまとめてみましょう。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32639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63754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0" y="9461500"/>
            <a:ext cx="19278600" cy="2794000"/>
          </a:xfrm>
          <a:prstGeom prst="rect">
            <a:avLst/>
          </a:prstGeom>
          <a:effectLst>
            <a:outerShdw dir="2700000" dist="0" blurRad="27940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0" y="10096500"/>
            <a:ext cx="1511300" cy="151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62400" y="10261600"/>
            <a:ext cx="1193800" cy="1193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78500" y="100457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78500" y="107442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76500" y="2921000"/>
            <a:ext cx="5600700" cy="9652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455900" y="40767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このページは、テーマを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3つの項目に分けることで、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55900" y="71755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より分かりやすく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説明できるページです。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55900" y="10287000"/>
            <a:ext cx="5029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レイアウトを活用し</a:t>
            </a:r>
          </a:p>
          <a:p>
            <a:pPr algn="ctr" lvl="0">
              <a:lnSpc>
                <a:spcPct val="124499"/>
              </a:lnSpc>
            </a:pPr>
            <a:r>
              <a:rPr lang="en-US" sz="2933" b="tru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まとめてみましょう。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15468600" y="6159500"/>
            <a:ext cx="50038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5468600" y="9271000"/>
            <a:ext cx="5003800" cy="76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5778500" y="38608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78500" y="45466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1900" y="3911600"/>
            <a:ext cx="1536700" cy="153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937000" y="4064000"/>
            <a:ext cx="1219200" cy="1219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5778500" y="6972300"/>
            <a:ext cx="3657600" cy="635000"/>
          </a:xfrm>
          <a:prstGeom prst="rect">
            <a:avLst/>
          </a:prstGeom>
        </p:spPr>
        <p:txBody>
          <a:bodyPr anchor="t" rtlCol="false" lIns="0" tIns="43270" rIns="0" bIns="0"/>
          <a:lstStyle/>
          <a:p>
            <a:pPr algn="l" lvl="0">
              <a:lnSpc>
                <a:spcPct val="99600"/>
              </a:lnSpc>
            </a:pPr>
            <a:r>
              <a:rPr lang="en-US" sz="34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キーワード2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78500" y="7658100"/>
            <a:ext cx="8763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この項目では、キーワード3の説明を書くことができます。</a:t>
            </a:r>
          </a:p>
          <a:p>
            <a:pPr algn="l" lvl="0">
              <a:lnSpc>
                <a:spcPct val="132800"/>
              </a:lnSpc>
            </a:pPr>
            <a:r>
              <a:rPr lang="en-US" sz="23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キーワード１の主な特徴を紹介し、参加者の理解を促しましょう。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771900" y="7023100"/>
            <a:ext cx="1536700" cy="1536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924300" y="7175500"/>
            <a:ext cx="1219200" cy="1219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4130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837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56000" y="3149600"/>
            <a:ext cx="5715000" cy="7239000"/>
          </a:xfrm>
          <a:prstGeom prst="rect">
            <a:avLst/>
          </a:prstGeom>
          <a:effectLst>
            <a:outerShdw dir="2700000" dist="0" blurRad="571500">
              <a:srgbClr val="000000">
                <a:alpha val="12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56600" y="6756400"/>
            <a:ext cx="800100" cy="33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01900" y="6756400"/>
            <a:ext cx="800100" cy="33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9321800" y="5651500"/>
            <a:ext cx="5626100" cy="63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944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41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41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41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106400" y="3924300"/>
            <a:ext cx="1371600" cy="137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71500" y="4089400"/>
            <a:ext cx="1041400" cy="104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16306800" y="5651500"/>
            <a:ext cx="5626100" cy="63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929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16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16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16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16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78700" y="3924300"/>
            <a:ext cx="1371600" cy="1371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231100" y="4089400"/>
            <a:ext cx="1054100" cy="105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0">
            <a:off x="2451100" y="5651500"/>
            <a:ext cx="5626100" cy="635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3086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73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/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73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
追加してください。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73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ボタン型リストや番号を活用して
内容を整理してみましょう。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73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短文で簡潔に分かりやすく
入力してください。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35700" y="3924300"/>
            <a:ext cx="1371600" cy="1371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00800" y="4089400"/>
            <a:ext cx="1041400" cy="10414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3段レイアウト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3つの情報を並べて整理するのに適した ページです。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387600" y="10896600"/>
            <a:ext cx="19608800" cy="1460500"/>
          </a:xfrm>
          <a:prstGeom prst="rect">
            <a:avLst/>
          </a:prstGeom>
          <a:effectLst>
            <a:outerShdw dir="2700000" dist="0" blurRad="109538">
              <a:srgbClr val="000000">
                <a:alpha val="12000"/>
              </a:srgbClr>
            </a:outerShdw>
          </a:effectLst>
        </p:spPr>
      </p:pic>
      <p:sp>
        <p:nvSpPr>
          <p:cNvPr name="TextBox 38" id="38"/>
          <p:cNvSpPr txBox="true"/>
          <p:nvPr/>
        </p:nvSpPr>
        <p:spPr>
          <a:xfrm rot="0">
            <a:off x="5435600" y="11188700"/>
            <a:ext cx="135001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活動内容について説明してみましょう。長文よりも</a:t>
            </a:r>
          </a:p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短文を使用することでページをよりスッキリと見せることができます。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写真とテキストによる4段組み構成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写真とその説明を4つの項目に分けることで、より理解度を深めることができるページです。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27813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3924300"/>
            <a:ext cx="2044700" cy="6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73500" y="2870200"/>
            <a:ext cx="3962400" cy="2184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53100" y="33020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0300" y="34798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53100" y="38862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53467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6477000"/>
            <a:ext cx="2044700" cy="6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73500" y="5422900"/>
            <a:ext cx="3962400" cy="2184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753100" y="58674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70300" y="60325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3100" y="64389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78994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9029700"/>
            <a:ext cx="2044700" cy="63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73500" y="7975600"/>
            <a:ext cx="3962400" cy="2184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753100" y="84201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70300" y="85852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53100" y="90043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27400" y="10452100"/>
            <a:ext cx="18351500" cy="2273300"/>
          </a:xfrm>
          <a:prstGeom prst="rect">
            <a:avLst/>
          </a:prstGeom>
          <a:effectLst>
            <a:outerShdw dir="2700000" dist="0" blurRad="227330">
              <a:srgbClr val="000000">
                <a:alpha val="12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4343400" y="11595100"/>
            <a:ext cx="2044700" cy="63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73500" y="10541000"/>
            <a:ext cx="3962400" cy="21844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5753100" y="10972800"/>
            <a:ext cx="3149600" cy="5588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70300" y="11150600"/>
            <a:ext cx="1498600" cy="863600"/>
          </a:xfrm>
          <a:prstGeom prst="rect">
            <a:avLst/>
          </a:prstGeom>
        </p:spPr>
        <p:txBody>
          <a:bodyPr anchor="t" rtlCol="false" lIns="0" tIns="59267" rIns="0" bIns="0"/>
          <a:lstStyle/>
          <a:p>
            <a:pPr algn="ctr" lvl="0">
              <a:lnSpc>
                <a:spcPct val="99600"/>
              </a:lnSpc>
            </a:pPr>
            <a:r>
              <a:rPr lang="en-US" sz="4666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53100" y="11557000"/>
            <a:ext cx="10566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この文章はダミーです。写真とその説明を4つの項目に分けることで、より理解度を深めることが</a:t>
            </a:r>
          </a:p>
          <a:p>
            <a:pPr algn="l" lvl="0">
              <a:lnSpc>
                <a:spcPct val="132800"/>
              </a:lnSpc>
            </a:pPr>
            <a:r>
              <a:rPr lang="en-US" sz="198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できるページです。他の項目との違いを記入することで、特徴を強調することもできます。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写真とテキストによる4段組み構成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写真とその説明を4つの項目に分けることで、より理解度を深めることができるページです。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7632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2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46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2966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66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83007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007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90700" y="3162300"/>
            <a:ext cx="5067300" cy="8978900"/>
          </a:xfrm>
          <a:prstGeom prst="rect">
            <a:avLst/>
          </a:prstGeom>
          <a:effectLst>
            <a:outerShdw dir="2700000" dist="0" blurRad="506730">
              <a:srgbClr val="000000">
                <a:alpha val="8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2311400" y="7835900"/>
            <a:ext cx="3149600" cy="571500"/>
          </a:xfrm>
          <a:prstGeom prst="rect">
            <a:avLst/>
          </a:prstGeom>
        </p:spPr>
        <p:txBody>
          <a:bodyPr anchor="t" rtlCol="false" lIns="0" tIns="38947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タイトルを入力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1400" y="8636000"/>
            <a:ext cx="4102100" cy="302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この文章はダミーです。写真とその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説明を4つの項目に分けることで、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より理解度を深めることができる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ページです。タイトル1の特徴と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メリットを記入し、よりわかりやすい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資料にしてみましょう。他の項目との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違いを記入することで、</a:t>
            </a:r>
          </a:p>
          <a:p>
            <a:pPr algn="l" lvl="0">
              <a:lnSpc>
                <a:spcPct val="132800"/>
              </a:lnSpc>
            </a:pPr>
            <a:r>
              <a:rPr lang="en-US" sz="18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特徴を強調することもできます。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組織図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組織の配置が一目で分かるページです。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33900" y="4762500"/>
            <a:ext cx="15303500" cy="71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64700" y="5130800"/>
            <a:ext cx="139700" cy="34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17700" y="5130800"/>
            <a:ext cx="1397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69500" y="26924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1938000" y="37465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38000" y="3225800"/>
            <a:ext cx="2286000" cy="558800"/>
          </a:xfrm>
          <a:prstGeom prst="rect">
            <a:avLst/>
          </a:prstGeom>
        </p:spPr>
        <p:txBody>
          <a:bodyPr anchor="t" rtlCol="false" lIns="0" tIns="37904" rIns="0" bIns="0"/>
          <a:lstStyle/>
          <a:p>
            <a:pPr algn="l" lvl="0">
              <a:lnSpc>
                <a:spcPct val="99600"/>
              </a:lnSpc>
            </a:pPr>
            <a:r>
              <a:rPr lang="en-US" sz="2984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CEO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7106900" y="98171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462500" y="56134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19469100" y="66167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69100" y="6184900"/>
            <a:ext cx="2425700" cy="444500"/>
          </a:xfrm>
          <a:prstGeom prst="rect">
            <a:avLst/>
          </a:prstGeom>
        </p:spPr>
        <p:txBody>
          <a:bodyPr anchor="t" rtlCol="false" lIns="0" tIns="29110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マーケティング部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83058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19" id="19"/>
          <p:cNvSpPr txBox="true"/>
          <p:nvPr/>
        </p:nvSpPr>
        <p:spPr>
          <a:xfrm rot="0">
            <a:off x="19151600" y="8432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92456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1" id="21"/>
          <p:cNvSpPr txBox="true"/>
          <p:nvPr/>
        </p:nvSpPr>
        <p:spPr>
          <a:xfrm rot="0">
            <a:off x="19151600" y="9372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01854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3" id="23"/>
          <p:cNvSpPr txBox="true"/>
          <p:nvPr/>
        </p:nvSpPr>
        <p:spPr>
          <a:xfrm rot="0">
            <a:off x="19151600" y="10312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11252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5" id="25"/>
          <p:cNvSpPr txBox="true"/>
          <p:nvPr/>
        </p:nvSpPr>
        <p:spPr>
          <a:xfrm rot="0">
            <a:off x="19151600" y="11252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211800" y="120650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27" id="27"/>
          <p:cNvSpPr txBox="true"/>
          <p:nvPr/>
        </p:nvSpPr>
        <p:spPr>
          <a:xfrm rot="0">
            <a:off x="19151600" y="12192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1158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714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30" id="30"/>
          <p:cNvSpPr txBox="true"/>
          <p:nvPr/>
        </p:nvSpPr>
        <p:spPr>
          <a:xfrm rot="0">
            <a:off x="144653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780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情報システム部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3" id="33"/>
          <p:cNvSpPr txBox="true"/>
          <p:nvPr/>
        </p:nvSpPr>
        <p:spPr>
          <a:xfrm rot="0">
            <a:off x="141605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5" id="35"/>
          <p:cNvSpPr txBox="true"/>
          <p:nvPr/>
        </p:nvSpPr>
        <p:spPr>
          <a:xfrm rot="0">
            <a:off x="141605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7" id="37"/>
          <p:cNvSpPr txBox="true"/>
          <p:nvPr/>
        </p:nvSpPr>
        <p:spPr>
          <a:xfrm rot="0">
            <a:off x="141605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39" id="39"/>
          <p:cNvSpPr txBox="true"/>
          <p:nvPr/>
        </p:nvSpPr>
        <p:spPr>
          <a:xfrm rot="0">
            <a:off x="141605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207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1" id="41"/>
          <p:cNvSpPr txBox="true"/>
          <p:nvPr/>
        </p:nvSpPr>
        <p:spPr>
          <a:xfrm rot="0">
            <a:off x="141605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1247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676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44" id="44"/>
          <p:cNvSpPr txBox="true"/>
          <p:nvPr/>
        </p:nvSpPr>
        <p:spPr>
          <a:xfrm rot="0">
            <a:off x="94742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742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デザイン部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7" id="47"/>
          <p:cNvSpPr txBox="true"/>
          <p:nvPr/>
        </p:nvSpPr>
        <p:spPr>
          <a:xfrm rot="0">
            <a:off x="91567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49" id="49"/>
          <p:cNvSpPr txBox="true"/>
          <p:nvPr/>
        </p:nvSpPr>
        <p:spPr>
          <a:xfrm rot="0">
            <a:off x="91567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1" id="51"/>
          <p:cNvSpPr txBox="true"/>
          <p:nvPr/>
        </p:nvSpPr>
        <p:spPr>
          <a:xfrm rot="0">
            <a:off x="91567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3" id="53"/>
          <p:cNvSpPr txBox="true"/>
          <p:nvPr/>
        </p:nvSpPr>
        <p:spPr>
          <a:xfrm rot="0">
            <a:off x="91567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296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55" id="55"/>
          <p:cNvSpPr txBox="true"/>
          <p:nvPr/>
        </p:nvSpPr>
        <p:spPr>
          <a:xfrm rot="0">
            <a:off x="91567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120900" y="9791700"/>
            <a:ext cx="5181600" cy="50800"/>
          </a:xfrm>
          <a:prstGeom prst="rect">
            <a:avLst/>
          </a:prstGeom>
          <a:effectLst>
            <a:outerShdw dir="189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76500" y="5600700"/>
            <a:ext cx="4445000" cy="1955800"/>
          </a:xfrm>
          <a:prstGeom prst="rect">
            <a:avLst/>
          </a:prstGeom>
          <a:effectLst>
            <a:outerShdw dir="2700000" dist="0" blurRad="195580">
              <a:srgbClr val="000000">
                <a:alpha val="20000"/>
              </a:srgbClr>
            </a:outerShdw>
          </a:effectLst>
        </p:spPr>
      </p:pic>
      <p:sp>
        <p:nvSpPr>
          <p:cNvPr name="TextBox 58" id="58"/>
          <p:cNvSpPr txBox="true"/>
          <p:nvPr/>
        </p:nvSpPr>
        <p:spPr>
          <a:xfrm rot="0">
            <a:off x="4483100" y="6604000"/>
            <a:ext cx="2247900" cy="355600"/>
          </a:xfrm>
          <a:prstGeom prst="rect">
            <a:avLst/>
          </a:prstGeom>
        </p:spPr>
        <p:txBody>
          <a:bodyPr anchor="t" rtlCol="false" lIns="0" tIns="23453" rIns="0" bIns="0"/>
          <a:lstStyle/>
          <a:p>
            <a:pPr algn="l" lvl="0">
              <a:lnSpc>
                <a:spcPct val="99600"/>
              </a:lnSpc>
            </a:pPr>
            <a:r>
              <a:rPr lang="en-US" sz="184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山本真人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83100" y="6172200"/>
            <a:ext cx="2425700" cy="444500"/>
          </a:xfrm>
          <a:prstGeom prst="rect">
            <a:avLst/>
          </a:prstGeom>
        </p:spPr>
        <p:txBody>
          <a:bodyPr anchor="t" rtlCol="false" lIns="0" tIns="29108" rIns="0" bIns="0"/>
          <a:lstStyle/>
          <a:p>
            <a:pPr algn="l" lvl="0">
              <a:lnSpc>
                <a:spcPct val="99600"/>
              </a:lnSpc>
            </a:pPr>
            <a:r>
              <a:rPr lang="en-US" sz="2292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総務部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82931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1" id="61"/>
          <p:cNvSpPr txBox="true"/>
          <p:nvPr/>
        </p:nvSpPr>
        <p:spPr>
          <a:xfrm rot="0">
            <a:off x="4165600" y="84074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黒沢 恵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92329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3" id="63"/>
          <p:cNvSpPr txBox="true"/>
          <p:nvPr/>
        </p:nvSpPr>
        <p:spPr>
          <a:xfrm rot="0">
            <a:off x="4165600" y="93472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中村 大輔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01727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5" id="65"/>
          <p:cNvSpPr txBox="true"/>
          <p:nvPr/>
        </p:nvSpPr>
        <p:spPr>
          <a:xfrm rot="0">
            <a:off x="4165600" y="102870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下村 彩香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11125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7" id="67"/>
          <p:cNvSpPr txBox="true"/>
          <p:nvPr/>
        </p:nvSpPr>
        <p:spPr>
          <a:xfrm rot="0">
            <a:off x="4165600" y="112268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井上 千佳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38500" y="12052300"/>
            <a:ext cx="2933700" cy="609600"/>
          </a:xfrm>
          <a:prstGeom prst="rect">
            <a:avLst/>
          </a:prstGeom>
          <a:effectLst>
            <a:outerShdw dir="2700000" dist="0" blurRad="152400">
              <a:srgbClr val="000000">
                <a:alpha val="20000"/>
              </a:srgbClr>
            </a:outerShdw>
          </a:effectLst>
        </p:spPr>
      </p:pic>
      <p:sp>
        <p:nvSpPr>
          <p:cNvPr name="TextBox 69" id="69"/>
          <p:cNvSpPr txBox="true"/>
          <p:nvPr/>
        </p:nvSpPr>
        <p:spPr>
          <a:xfrm rot="0">
            <a:off x="4165600" y="12166600"/>
            <a:ext cx="1816100" cy="355600"/>
          </a:xfrm>
          <a:prstGeom prst="rect">
            <a:avLst/>
          </a:prstGeom>
        </p:spPr>
        <p:txBody>
          <a:bodyPr anchor="t" rtlCol="false" lIns="0" tIns="2286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高橋 健太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21209000" y="2933700"/>
            <a:ext cx="1879600" cy="163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63800" y="3136900"/>
            <a:ext cx="8712200" cy="8712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会社概要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会社の主要な情報を紹介するのに適したページです。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08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2204700" y="6832600"/>
          <a:ext cx="10401300" cy="5029200"/>
        </p:xfrm>
        <a:graphic>
          <a:graphicData uri="http://schemas.openxmlformats.org/drawingml/2006/table">
            <a:tbl>
              <a:tblPr/>
              <a:tblGrid>
                <a:gridCol w="3159262"/>
                <a:gridCol w="7192346"/>
              </a:tblGrid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業種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製造業 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企業区分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中小企業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993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主な事業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製造機器の開発およびレンタル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代表取締役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中村麻里子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従業員数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150名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1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設立日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20XX.00.00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926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999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本社所在地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Miridih (ミリディ)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866" b="false" i="false" u="none" strike="noStrike">
                          <a:solidFill>
                            <a:srgbClr val="000000"/>
                          </a:solidFill>
                          <a:latin typeface="Pretendard JP Medium"/>
                          <a:ea typeface="Pretendard JP Medium"/>
                          <a:cs typeface="Pretendard JP Medium"/>
                        </a:rPr>
                        <a:t>日本本社 東京都○○区○○1-2-3</a:t>
                      </a:r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9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2192000" y="5422900"/>
            <a:ext cx="61214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会社の哲学とビジョンを印象に残るように</a:t>
            </a:r>
          </a:p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要約してみましょう。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0" y="3403600"/>
            <a:ext cx="10617200" cy="1790700"/>
          </a:xfrm>
          <a:prstGeom prst="rect">
            <a:avLst/>
          </a:prstGeom>
        </p:spPr>
        <p:txBody>
          <a:bodyPr anchor="t" rtlCol="false" lIns="0" tIns="67785" rIns="0" bIns="0"/>
          <a:lstStyle/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変化する時代の中で、</a:t>
            </a:r>
          </a:p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新しい価値を生み出し続けます。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4711700"/>
            <a:ext cx="1308100" cy="1054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886700" y="5892800"/>
            <a:ext cx="2324100" cy="419100"/>
          </a:xfrm>
          <a:prstGeom prst="rect">
            <a:avLst/>
          </a:prstGeom>
        </p:spPr>
        <p:txBody>
          <a:bodyPr anchor="t" rtlCol="false" lIns="0" tIns="27672" rIns="0" bIns="0"/>
          <a:lstStyle/>
          <a:p>
            <a:pPr algn="ctr" lvl="0">
              <a:lnSpc>
                <a:spcPct val="99600"/>
              </a:lnSpc>
            </a:pPr>
            <a:r>
              <a:rPr lang="en-US" sz="2178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178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業績ハイライト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会社の最近の業績に関する主要数値を要約して入力してください。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09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035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035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3733800" y="41529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売上額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00" y="46609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750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46500" y="60706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33800" y="80645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当期純利益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956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70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3800" y="9982200"/>
            <a:ext cx="3937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前年同期比 </a:t>
            </a:r>
            <a:r>
              <a:rPr lang="en-US" sz="2632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+25%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567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567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10210800" y="41529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営業利益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1500" y="46609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100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23500" y="60706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99700" y="8077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営業利益率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615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11.3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12400" y="99949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 55%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22600" y="35306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22600" y="7416800"/>
            <a:ext cx="6057900" cy="3644900"/>
          </a:xfrm>
          <a:prstGeom prst="rect">
            <a:avLst/>
          </a:prstGeom>
          <a:effectLst>
            <a:outerShdw dir="2700000" dist="0" blurRad="364490">
              <a:srgbClr val="000000">
                <a:alpha val="12000"/>
              </a:srgbClr>
            </a:outerShdw>
          </a:effectLst>
        </p:spPr>
      </p:pic>
      <p:sp>
        <p:nvSpPr>
          <p:cNvPr name="TextBox 26" id="26"/>
          <p:cNvSpPr txBox="true"/>
          <p:nvPr/>
        </p:nvSpPr>
        <p:spPr>
          <a:xfrm rot="0">
            <a:off x="16865600" y="4140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経常利益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27400" y="46482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110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865600" y="6057900"/>
            <a:ext cx="3937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前年同期比 </a:t>
            </a:r>
            <a:r>
              <a:rPr lang="en-US" sz="2632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+25%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65600" y="8077200"/>
            <a:ext cx="3949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071" b="true" i="false" u="none" strike="noStrike">
                <a:solidFill>
                  <a:srgbClr val="FF9A42"/>
                </a:solidFill>
                <a:latin typeface="Pretendard JP Medium"/>
                <a:ea typeface="Pretendard JP Medium"/>
                <a:cs typeface="Pretendard JP Medium"/>
              </a:rPr>
              <a:t>EBITDA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27400" y="8572500"/>
            <a:ext cx="5461000" cy="1397000"/>
          </a:xfrm>
          <a:prstGeom prst="rect">
            <a:avLst/>
          </a:prstGeom>
        </p:spPr>
        <p:txBody>
          <a:bodyPr anchor="t" rtlCol="false" lIns="0" tIns="97814" rIns="0" bIns="0"/>
          <a:lstStyle/>
          <a:p>
            <a:pPr algn="ctr" lvl="0">
              <a:lnSpc>
                <a:spcPct val="99600"/>
              </a:lnSpc>
            </a:pPr>
            <a:r>
              <a:rPr lang="en-US" sz="770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250</a:t>
            </a:r>
            <a:r>
              <a:rPr lang="en-US" sz="513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億円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78300" y="9994900"/>
            <a:ext cx="3937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527" b="tru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進捗率55%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79700" y="11468100"/>
            <a:ext cx="9652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33" b="false" i="false" u="none" strike="noStrike">
                <a:solidFill>
                  <a:srgbClr val="000000">
                    <a:alpha val="4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※進捗率は通期業績予想に対する第2四半期終了時点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522700" y="3429000"/>
            <a:ext cx="5880100" cy="7912100"/>
          </a:xfrm>
          <a:prstGeom prst="rect">
            <a:avLst/>
          </a:prstGeom>
          <a:effectLst>
            <a:outerShdw dir="2700000" dist="0" blurRad="588010">
              <a:srgbClr val="000000">
                <a:alpha val="12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62200" y="3429000"/>
            <a:ext cx="5880100" cy="7912100"/>
          </a:xfrm>
          <a:prstGeom prst="rect">
            <a:avLst/>
          </a:prstGeom>
          <a:effectLst>
            <a:outerShdw dir="2700000" dist="0" blurRad="588010">
              <a:srgbClr val="000000">
                <a:alpha val="12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ベン図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共通部分と差集合が一目で把握しやすいページです。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10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75900" y="3175000"/>
            <a:ext cx="3924300" cy="9042400"/>
          </a:xfrm>
          <a:prstGeom prst="rect">
            <a:avLst/>
          </a:prstGeom>
          <a:effectLst>
            <a:outerShdw dir="2700000" dist="0" blurRad="156972">
              <a:srgbClr val="000000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4749800"/>
            <a:ext cx="6362700" cy="1727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969500" y="51562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AとBのグループが共有する</a:t>
            </a:r>
          </a:p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特性を並べてください。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6832600"/>
            <a:ext cx="6362700" cy="1727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969500" y="72263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グループ間の共通点と違いを</a:t>
            </a:r>
          </a:p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要約してください。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56700" y="8915400"/>
            <a:ext cx="6362700" cy="1727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969500" y="9309100"/>
            <a:ext cx="47244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24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該当するバン図の内容を簡単に紹介してください。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16687800" y="5168900"/>
            <a:ext cx="5549900" cy="63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92700" y="3987800"/>
            <a:ext cx="3340100" cy="838200"/>
          </a:xfrm>
          <a:prstGeom prst="rect">
            <a:avLst/>
          </a:prstGeom>
        </p:spPr>
        <p:txBody>
          <a:bodyPr anchor="t" rtlCol="false" lIns="0" tIns="57573" rIns="0" bIns="0"/>
          <a:lstStyle/>
          <a:p>
            <a:pPr algn="ctr" lvl="0">
              <a:lnSpc>
                <a:spcPct val="99600"/>
              </a:lnSpc>
            </a:pPr>
            <a:r>
              <a:rPr lang="en-US" sz="45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Bの特性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79900" y="5918200"/>
            <a:ext cx="49657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Bグループの固有の特徴を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Bグループにのみ該当する属性を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並べてください。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BグループがAグループと違う点を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強調してください。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Bグループの固有の特徴を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0">
            <a:off x="2527300" y="5168900"/>
            <a:ext cx="5549900" cy="63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3644900" y="3987800"/>
            <a:ext cx="3340100" cy="838200"/>
          </a:xfrm>
          <a:prstGeom prst="rect">
            <a:avLst/>
          </a:prstGeom>
        </p:spPr>
        <p:txBody>
          <a:bodyPr anchor="t" rtlCol="false" lIns="0" tIns="57573" rIns="0" bIns="0"/>
          <a:lstStyle/>
          <a:p>
            <a:pPr algn="ctr" lvl="0">
              <a:lnSpc>
                <a:spcPct val="99600"/>
              </a:lnSpc>
            </a:pPr>
            <a:r>
              <a:rPr lang="en-US" sz="4533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Aの特性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2100" y="5918200"/>
            <a:ext cx="49657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Aグループの固有の特徴を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Aグループにのみ該当する属性を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並べてください。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AグループがBグループと違う点を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強調してください。</a:t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  <a:p>
            <a:pPr algn="ctr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Aグループの固有の特徴を</a:t>
            </a:r>
          </a:p>
          <a:p>
            <a:pPr algn="ctr" lvl="0">
              <a:lnSpc>
                <a:spcPct val="120350"/>
              </a:lnSpc>
            </a:pPr>
            <a:r>
              <a:rPr lang="en-US" sz="220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説明してください。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892800"/>
            <a:ext cx="23317200" cy="101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時間の経過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時間の経過に沿って起きた主な出来事と変化を示すページです。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273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866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114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28194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94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94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99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2540000" y="8115300"/>
            <a:ext cx="4229100" cy="63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70800" y="3086100"/>
            <a:ext cx="4292600" cy="2400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7010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549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20" id="20"/>
          <p:cNvSpPr txBox="true"/>
          <p:nvPr/>
        </p:nvSpPr>
        <p:spPr>
          <a:xfrm rot="0">
            <a:off x="79756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756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756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534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7683500" y="8115300"/>
            <a:ext cx="4229100" cy="63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143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21539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984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28" id="28"/>
          <p:cNvSpPr txBox="true"/>
          <p:nvPr/>
        </p:nvSpPr>
        <p:spPr>
          <a:xfrm rot="0">
            <a:off x="131191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191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91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969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12827000" y="8115300"/>
            <a:ext cx="4229100" cy="635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970500" y="3086100"/>
            <a:ext cx="4292600" cy="2400300"/>
          </a:xfrm>
          <a:prstGeom prst="rect">
            <a:avLst/>
          </a:prstGeom>
          <a:effectLst>
            <a:outerShdw dir="2700000" dist="0" blurRad="240030">
              <a:srgbClr val="000000">
                <a:alpha val="12000"/>
              </a:srgbClr>
            </a:outerShdw>
          </a:effectLst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17297400" y="6057900"/>
            <a:ext cx="1384300" cy="50800"/>
          </a:xfrm>
          <a:prstGeom prst="rect">
            <a:avLst/>
          </a:prstGeom>
          <a:effectLst>
            <a:outerShdw dir="8100000" dist="4689" blurRad="2032">
              <a:srgbClr val="000000">
                <a:alpha val="5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70800" y="3073400"/>
            <a:ext cx="4292600" cy="2425700"/>
          </a:xfrm>
          <a:prstGeom prst="rect">
            <a:avLst/>
          </a:prstGeom>
          <a:effectLst>
            <a:outerShdw dir="2700000" dist="0" blurRad="242570">
              <a:srgbClr val="000000">
                <a:alpha val="12000"/>
              </a:srgbClr>
            </a:outerShdw>
          </a:effectLst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754600" y="6413500"/>
            <a:ext cx="4508500" cy="5803900"/>
          </a:xfrm>
          <a:prstGeom prst="rect">
            <a:avLst/>
          </a:prstGeom>
          <a:effectLst>
            <a:outerShdw dir="2700000" dist="0" blurRad="293053">
              <a:srgbClr val="000000">
                <a:alpha val="12000"/>
              </a:srgbClr>
            </a:outerShdw>
          </a:effectLst>
        </p:spPr>
      </p:pic>
      <p:sp>
        <p:nvSpPr>
          <p:cNvPr name="TextBox 37" id="37"/>
          <p:cNvSpPr txBox="true"/>
          <p:nvPr/>
        </p:nvSpPr>
        <p:spPr>
          <a:xfrm rot="0">
            <a:off x="18262600" y="8458200"/>
            <a:ext cx="377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当該年度に発生した主な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出来事を説明してください。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262600" y="9448800"/>
            <a:ext cx="37592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当該年度の主な出来事について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記入してみましょう。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262600" y="10439400"/>
            <a:ext cx="3771900" cy="109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時間の経過を自然に 繋げて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タイムラインを</a:t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完成させてください。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440400" y="7112000"/>
            <a:ext cx="2933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20XX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 rot="0">
            <a:off x="17970500" y="8115300"/>
            <a:ext cx="4229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4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30100" y="77343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53400" y="36449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>
            <a:outerShdw dir="27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>
            <a:outerShdw dir="13500000" dist="0" blurRad="400050">
              <a:srgbClr val="000000">
                <a:alpha val="12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/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4段レイアウト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4つの情報を並べて整理するのに適した ページです。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/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12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20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1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25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>
            <a:outerShdw dir="2700000" dist="0" blurRad="354330">
              <a:srgbClr val="000000">
                <a:alpha val="12000"/>
              </a:srgbClr>
            </a:outerShdw>
          </a:effectLst>
        </p:spPr>
      </p:pic>
      <p:sp>
        <p:nvSpPr>
          <p:cNvPr name="TextBox 30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当該キーワードに関する説明を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追加してください。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ボタン型リストや番号を</a:t>
            </a:r>
          </a:p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活用して内容を整理してみましょう。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/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キーワード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146800" y="4533900"/>
            <a:ext cx="10947400" cy="4470400"/>
          </a:xfrm>
          <a:prstGeom prst="rect">
            <a:avLst/>
          </a:prstGeom>
        </p:spPr>
        <p:txBody>
          <a:bodyPr anchor="t" rtlCol="false" lIns="0" tIns="317416" rIns="0" bIns="0"/>
          <a:lstStyle/>
          <a:p>
            <a:pPr algn="ctr" lvl="0">
              <a:lnSpc>
                <a:spcPct val="99600"/>
              </a:lnSpc>
            </a:pPr>
            <a:r>
              <a:rPr lang="en-US" sz="2499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QnA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89600" y="8636000"/>
            <a:ext cx="121412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200" b="false" i="false" u="none" strike="noStrike">
                <a:solidFill>
                  <a:srgbClr val="FFFFFF">
                    <a:alpha val="7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いままでけいしょうしてくださってありがとうございます。</a:t>
            </a:r>
          </a:p>
          <a:p>
            <a:pPr algn="ctr" lvl="0">
              <a:lnSpc>
                <a:spcPct val="120350"/>
              </a:lnSpc>
            </a:pPr>
            <a:r>
              <a:rPr lang="en-US" sz="3200" b="false" i="false" u="none" strike="noStrike">
                <a:solidFill>
                  <a:srgbClr val="FFFFFF">
                    <a:alpha val="7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10分間自由に質問にお答えします。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566900" y="4889500"/>
            <a:ext cx="16383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9A4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1300" y="3835400"/>
            <a:ext cx="10363200" cy="1689100"/>
          </a:xfrm>
          <a:prstGeom prst="rect">
            <a:avLst/>
          </a:prstGeom>
        </p:spPr>
        <p:txBody>
          <a:bodyPr anchor="t" rtlCol="false" lIns="0" tIns="59266" rIns="0" bIns="0"/>
          <a:lstStyle/>
          <a:p>
            <a:pPr algn="l" lvl="0">
              <a:lnSpc>
                <a:spcPct val="107899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11300" y="11214100"/>
            <a:ext cx="3187700" cy="571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272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ミリカンパニーOO部部長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3124200"/>
            <a:ext cx="685800" cy="558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73300" y="31369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11887200"/>
            <a:ext cx="24765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小林麻里子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0" y="11214100"/>
            <a:ext cx="3187700" cy="571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11315700"/>
            <a:ext cx="14859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E-MAIL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848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miridih@miridih.com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18600" y="11214100"/>
            <a:ext cx="31877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61800" y="-2844800"/>
            <a:ext cx="19380200" cy="1151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20980400" y="10350500"/>
            <a:ext cx="4330700" cy="1892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3218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TEL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94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: 000-0000-0000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