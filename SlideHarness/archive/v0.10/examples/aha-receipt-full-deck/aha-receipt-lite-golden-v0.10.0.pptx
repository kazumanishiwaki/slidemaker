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</p:sldIdLst>
  <p:sldSz cx="24384000" cy="13716000"/>
  <p:notesSz cx="6858000" cy="9144000"/>
  <p:embeddedFontLst>
    <p:embeddedFont>
      <p:font typeface="Pretendard JP Regular"/>
      <p:regular r:id="rId23"/>
    </p:embeddedFont>
    <p:embeddedFont>
      <p:font typeface="Pretendard JP Bold"/>
      <p:bold r:id="rId24"/>
    </p:embeddedFont>
    <p:embeddedFont>
      <p:font typeface="Pretendard JP Medium"/>
      <p:bold r:id="rId25"/>
    </p:embeddedFont>
    <p:embeddedFont>
      <p:font typeface="Pretendard JP SemiBold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5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15.png"/><Relationship Id="rId6" Type="http://schemas.openxmlformats.org/officeDocument/2006/relationships/image" Target="../media/image6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9.png"/><Relationship Id="rId4" Type="http://schemas.openxmlformats.org/officeDocument/2006/relationships/image" Target="../media/image15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8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Relationship Id="rId11" Type="http://schemas.openxmlformats.org/officeDocument/2006/relationships/image" Target="../media/image15.png"/><Relationship Id="rId12" Type="http://schemas.openxmlformats.org/officeDocument/2006/relationships/image" Target="../media/image9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0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15.png"/><Relationship Id="rId6" Type="http://schemas.openxmlformats.org/officeDocument/2006/relationships/image" Target="../media/image6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11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11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5.png"/><Relationship Id="rId4" Type="http://schemas.openxmlformats.org/officeDocument/2006/relationships/image" Target="../media/image91.png"/><Relationship Id="rId5" Type="http://schemas.openxmlformats.org/officeDocument/2006/relationships/image" Target="../media/image11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10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9.png"/><Relationship Id="rId4" Type="http://schemas.openxmlformats.org/officeDocument/2006/relationships/image" Target="../media/image15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05800" y="-2438400"/>
            <a:ext cx="19380200" cy="1151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678400" y="10756900"/>
            <a:ext cx="4330700" cy="1892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58900" y="8458200"/>
            <a:ext cx="10706100" cy="2921000"/>
          </a:xfrm>
          <a:prstGeom prst="rect">
            <a:avLst/>
          </a:prstGeom>
        </p:spPr>
        <p:txBody>
          <a:bodyPr anchor="t" rtlCol="false" lIns="0" tIns="53408" rIns="0" bIns="0"/>
          <a:lstStyle/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使いやすくて映える</a:t>
            </a:r>
          </a:p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プレゼンテーション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8900" y="11709400"/>
            <a:ext cx="2044700" cy="571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09700" y="11823700"/>
            <a:ext cx="19558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20XX.XX.XX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7632700"/>
            <a:ext cx="685800" cy="558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20900" y="76327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30600" y="11709400"/>
            <a:ext cx="3352800" cy="571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22700" y="11823700"/>
            <a:ext cx="27813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所属機関 : ミリカンパニー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10400" y="11709400"/>
            <a:ext cx="2298700" cy="571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048500" y="11823700"/>
            <a:ext cx="22352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部署 : 総務部部長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48800" y="11709400"/>
            <a:ext cx="2298700" cy="571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512300" y="11823700"/>
            <a:ext cx="21717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氏名 : 小林麻里子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9A4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1861800" y="-4203700"/>
            <a:ext cx="19380200" cy="1151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20980400" y="8991600"/>
            <a:ext cx="4330700" cy="1892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985500" y="5168900"/>
            <a:ext cx="2425700" cy="1981200"/>
          </a:xfrm>
          <a:prstGeom prst="rect">
            <a:avLst/>
          </a:prstGeom>
        </p:spPr>
        <p:txBody>
          <a:bodyPr anchor="t" rtlCol="false" lIns="0" tIns="209083" rIns="0" bIns="0"/>
          <a:lstStyle/>
          <a:p>
            <a:pPr algn="ctr" lvl="0">
              <a:lnSpc>
                <a:spcPct val="91299"/>
              </a:lnSpc>
            </a:pPr>
            <a:r>
              <a:rPr lang="en-US" sz="10975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00800" y="7099300"/>
            <a:ext cx="11595100" cy="1130300"/>
          </a:xfrm>
          <a:prstGeom prst="rect">
            <a:avLst/>
          </a:prstGeom>
        </p:spPr>
        <p:txBody>
          <a:bodyPr anchor="t" rtlCol="false" lIns="0" tIns="78693" rIns="0" bIns="0"/>
          <a:lstStyle/>
          <a:p>
            <a:pPr algn="ctr" lvl="0">
              <a:lnSpc>
                <a:spcPct val="99600"/>
              </a:lnSpc>
            </a:pPr>
            <a:r>
              <a:rPr lang="en-US" sz="6196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タイトルを入力してください。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88200" y="8369300"/>
            <a:ext cx="10007600" cy="596900"/>
          </a:xfrm>
          <a:prstGeom prst="rect">
            <a:avLst/>
          </a:prstGeom>
        </p:spPr>
        <p:txBody>
          <a:bodyPr anchor="t" rtlCol="false" lIns="0" tIns="40640" rIns="0" bIns="0"/>
          <a:lstStyle/>
          <a:p>
            <a:pPr algn="ctr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ここにはタイトルを補足する内容を記入してください。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937000" y="-63500"/>
            <a:ext cx="6083300" cy="3467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12300" y="6731000"/>
            <a:ext cx="133858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652000" y="6692900"/>
            <a:ext cx="106299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l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主な内容を要約したタイトルを入力しましょう。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52000" y="7442200"/>
            <a:ext cx="10833100" cy="406400"/>
          </a:xfrm>
          <a:prstGeom prst="rect">
            <a:avLst/>
          </a:prstGeom>
        </p:spPr>
        <p:txBody>
          <a:bodyPr anchor="t" rtlCol="false" lIns="0" tIns="26772" rIns="0" bIns="0"/>
          <a:lstStyle/>
          <a:p>
            <a:pPr algn="l" lvl="0">
              <a:lnSpc>
                <a:spcPct val="99600"/>
              </a:lnSpc>
            </a:pPr>
            <a:r>
              <a:rPr lang="en-US" sz="2108" b="false" i="false" u="none" strike="noStrike">
                <a:solidFill>
                  <a:srgbClr val="000000">
                    <a:alpha val="65098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キーワードを使って重要な内容を強調してみましょう。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53400" y="6451600"/>
            <a:ext cx="1435100" cy="1244600"/>
          </a:xfrm>
          <a:prstGeom prst="rect">
            <a:avLst/>
          </a:prstGeom>
        </p:spPr>
        <p:txBody>
          <a:bodyPr anchor="t" rtlCol="false" lIns="0" tIns="86361" rIns="0" bIns="0"/>
          <a:lstStyle/>
          <a:p>
            <a:pPr algn="l" lvl="0">
              <a:lnSpc>
                <a:spcPct val="99600"/>
              </a:lnSpc>
            </a:pPr>
            <a:r>
              <a:rPr lang="en-US" sz="6800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218400" y="6731000"/>
            <a:ext cx="12192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r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p 8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12300" y="2679700"/>
            <a:ext cx="13385800" cy="635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652000" y="2654300"/>
            <a:ext cx="106299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l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目次のタイトルを入力してください。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52000" y="3390900"/>
            <a:ext cx="10833100" cy="406400"/>
          </a:xfrm>
          <a:prstGeom prst="rect">
            <a:avLst/>
          </a:prstGeom>
        </p:spPr>
        <p:txBody>
          <a:bodyPr anchor="t" rtlCol="false" lIns="0" tIns="26772" rIns="0" bIns="0"/>
          <a:lstStyle/>
          <a:p>
            <a:pPr algn="l" lvl="0">
              <a:lnSpc>
                <a:spcPct val="99600"/>
              </a:lnSpc>
            </a:pPr>
            <a:r>
              <a:rPr lang="en-US" sz="2108" b="false" i="false" u="none" strike="noStrike">
                <a:solidFill>
                  <a:srgbClr val="000000">
                    <a:alpha val="65098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各セクションの主な内容を簡単に要約しましょう。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53400" y="2413000"/>
            <a:ext cx="1435100" cy="1244600"/>
          </a:xfrm>
          <a:prstGeom prst="rect">
            <a:avLst/>
          </a:prstGeom>
        </p:spPr>
        <p:txBody>
          <a:bodyPr anchor="t" rtlCol="false" lIns="0" tIns="86361" rIns="0" bIns="0"/>
          <a:lstStyle/>
          <a:p>
            <a:pPr algn="l" lvl="0">
              <a:lnSpc>
                <a:spcPct val="99600"/>
              </a:lnSpc>
            </a:pPr>
            <a:r>
              <a:rPr lang="en-US" sz="6800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218400" y="2679700"/>
            <a:ext cx="12192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r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p 3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12300" y="10769600"/>
            <a:ext cx="13385800" cy="6350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639300" y="10744200"/>
            <a:ext cx="110236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l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タイトルだけでも内容を簡単に把握できるようにしてください。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52000" y="11480800"/>
            <a:ext cx="10833100" cy="406400"/>
          </a:xfrm>
          <a:prstGeom prst="rect">
            <a:avLst/>
          </a:prstGeom>
        </p:spPr>
        <p:txBody>
          <a:bodyPr anchor="t" rtlCol="false" lIns="0" tIns="26772" rIns="0" bIns="0"/>
          <a:lstStyle/>
          <a:p>
            <a:pPr algn="l" lvl="0">
              <a:lnSpc>
                <a:spcPct val="99600"/>
              </a:lnSpc>
            </a:pPr>
            <a:r>
              <a:rPr lang="en-US" sz="2108" b="false" i="false" u="none" strike="noStrike">
                <a:solidFill>
                  <a:srgbClr val="000000">
                    <a:alpha val="65098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各サブテーマがメインタイトルと関連付くようにしてください。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53400" y="10502900"/>
            <a:ext cx="1435100" cy="1244600"/>
          </a:xfrm>
          <a:prstGeom prst="rect">
            <a:avLst/>
          </a:prstGeom>
        </p:spPr>
        <p:txBody>
          <a:bodyPr anchor="t" rtlCol="false" lIns="0" tIns="86361" rIns="0" bIns="0"/>
          <a:lstStyle/>
          <a:p>
            <a:pPr algn="l" lvl="0">
              <a:lnSpc>
                <a:spcPct val="99600"/>
              </a:lnSpc>
            </a:pPr>
            <a:r>
              <a:rPr lang="en-US" sz="6800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218400" y="10769600"/>
            <a:ext cx="12192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r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p 15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12300" y="8750300"/>
            <a:ext cx="13385800" cy="635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652000" y="8712200"/>
            <a:ext cx="106299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l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目次を論理的な順序で構成しましょう。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52000" y="9461500"/>
            <a:ext cx="10833100" cy="406400"/>
          </a:xfrm>
          <a:prstGeom prst="rect">
            <a:avLst/>
          </a:prstGeom>
        </p:spPr>
        <p:txBody>
          <a:bodyPr anchor="t" rtlCol="false" lIns="0" tIns="26772" rIns="0" bIns="0"/>
          <a:lstStyle/>
          <a:p>
            <a:pPr algn="l" lvl="0">
              <a:lnSpc>
                <a:spcPct val="99600"/>
              </a:lnSpc>
            </a:pPr>
            <a:r>
              <a:rPr lang="en-US" sz="2108" b="false" i="false" u="none" strike="noStrike">
                <a:solidFill>
                  <a:srgbClr val="000000">
                    <a:alpha val="65098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サブタイトルを論理的な流れに合わせて配置してみましょう。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53400" y="8470900"/>
            <a:ext cx="1435100" cy="1244600"/>
          </a:xfrm>
          <a:prstGeom prst="rect">
            <a:avLst/>
          </a:prstGeom>
        </p:spPr>
        <p:txBody>
          <a:bodyPr anchor="t" rtlCol="false" lIns="0" tIns="86361" rIns="0" bIns="0"/>
          <a:lstStyle/>
          <a:p>
            <a:pPr algn="l" lvl="0">
              <a:lnSpc>
                <a:spcPct val="99600"/>
              </a:lnSpc>
            </a:pPr>
            <a:r>
              <a:rPr lang="en-US" sz="6800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218400" y="8750300"/>
            <a:ext cx="12192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r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p 12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12300" y="4699000"/>
            <a:ext cx="13385800" cy="6350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9652000" y="4673600"/>
            <a:ext cx="106299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l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テーマがわかるタイトルを入力しましょう。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52000" y="5422900"/>
            <a:ext cx="10833100" cy="406400"/>
          </a:xfrm>
          <a:prstGeom prst="rect">
            <a:avLst/>
          </a:prstGeom>
        </p:spPr>
        <p:txBody>
          <a:bodyPr anchor="t" rtlCol="false" lIns="0" tIns="26772" rIns="0" bIns="0"/>
          <a:lstStyle/>
          <a:p>
            <a:pPr algn="l" lvl="0">
              <a:lnSpc>
                <a:spcPct val="99600"/>
              </a:lnSpc>
            </a:pPr>
            <a:r>
              <a:rPr lang="en-US" sz="2108" b="false" i="false" u="none" strike="noStrike">
                <a:solidFill>
                  <a:srgbClr val="000000">
                    <a:alpha val="65098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主な内容を行頭文字を使って整理してみましょう。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53400" y="4432300"/>
            <a:ext cx="1435100" cy="1244600"/>
          </a:xfrm>
          <a:prstGeom prst="rect">
            <a:avLst/>
          </a:prstGeom>
        </p:spPr>
        <p:txBody>
          <a:bodyPr anchor="t" rtlCol="false" lIns="0" tIns="86361" rIns="0" bIns="0"/>
          <a:lstStyle/>
          <a:p>
            <a:pPr algn="l" lvl="0">
              <a:lnSpc>
                <a:spcPct val="99600"/>
              </a:lnSpc>
            </a:pPr>
            <a:r>
              <a:rPr lang="en-US" sz="6800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218400" y="4699000"/>
            <a:ext cx="12192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r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p 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6200" y="2349500"/>
            <a:ext cx="3162300" cy="1333500"/>
          </a:xfrm>
          <a:prstGeom prst="rect">
            <a:avLst/>
          </a:prstGeom>
        </p:spPr>
        <p:txBody>
          <a:bodyPr anchor="t" rtlCol="false" lIns="0" tIns="93172" rIns="0" bIns="0"/>
          <a:lstStyle/>
          <a:p>
            <a:pPr algn="l" lvl="0">
              <a:lnSpc>
                <a:spcPct val="99600"/>
              </a:lnSpc>
            </a:pPr>
            <a:r>
              <a:rPr lang="en-US" sz="7336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目次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6200" y="3556000"/>
            <a:ext cx="2730500" cy="711200"/>
          </a:xfrm>
          <a:prstGeom prst="rect">
            <a:avLst/>
          </a:prstGeom>
        </p:spPr>
        <p:txBody>
          <a:bodyPr anchor="t" rtlCol="false" lIns="0" tIns="48231" rIns="0" bIns="0"/>
          <a:lstStyle/>
          <a:p>
            <a:pPr algn="l" lvl="0">
              <a:lnSpc>
                <a:spcPct val="99600"/>
              </a:lnSpc>
            </a:pPr>
            <a:r>
              <a:rPr lang="en-US" sz="3797" b="fals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73200" y="9690100"/>
            <a:ext cx="4648200" cy="222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* このプレゼンテーションは</a:t>
            </a:r>
          </a:p>
          <a:p>
            <a:pPr algn="l" lvl="0">
              <a:lnSpc>
                <a:spcPct val="12035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一度に全体の色を変えて使用できます。 </a:t>
            </a:r>
          </a:p>
          <a:p>
            <a:pPr algn="l" lvl="0">
              <a:lnSpc>
                <a:spcPct val="12035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コンセプトに合わせて似合う色に変えて</a:t>
            </a:r>
          </a:p>
          <a:p>
            <a:pPr algn="l" lvl="0">
              <a:lnSpc>
                <a:spcPct val="12035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編集してみてください。</a:t>
            </a:r>
          </a:p>
          <a:p>
            <a:pPr algn="l" lvl="0">
              <a:lnSpc>
                <a:spcPct val="12035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l" lvl="0">
              <a:lnSpc>
                <a:spcPct val="120350"/>
              </a:lnSpc>
            </a:pPr>
            <a:r>
              <a:rPr lang="en-US" sz="2000" b="tru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この内容を消して使ってみましょう。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857500"/>
            <a:ext cx="22644100" cy="9753600"/>
          </a:xfrm>
          <a:prstGeom prst="rect">
            <a:avLst/>
          </a:prstGeom>
          <a:effectLst>
            <a:outerShdw dir="2700000" dist="0" blurRad="487680">
              <a:srgbClr val="000000">
                <a:alpha val="12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27200" y="3797300"/>
            <a:ext cx="10020300" cy="8166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471400" y="4305300"/>
            <a:ext cx="10172700" cy="495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長文テキスト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分量の多いテキストを入力する際に便利なページです。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01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71400" y="5092700"/>
            <a:ext cx="10198100" cy="668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重要な内容や長文で意見を述べたい場合には当該ページをご活用ください。 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プレゼンは読みやすさが命です。読みやすさの核心は内容を簡潔に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伝えることです。 簡単に読めて且つ目立つことが重要です。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プレゼンテーションの全体的なトーン＆マナーと合うフォントや色を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活用してください。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コメントの中で強調したい部分は太字にしたりサイズを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大きくしてみてください。 具体的な例や数値などを活用すれば信頼度を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高めることができます。もちろん形式や構成と関係なくテキストを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自由に入力してもいいです。 テキストが多くても見る人が退屈しないように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視覚的な効果を活用してみましょう。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重要な内容や長文で意見を述べたい場合には当該ページをご活用ください。 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プレゼンは読みやすさが命です。読みやすさの核心は内容を簡潔に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伝えることです。 簡単に読めて且つ目立つことが重要です。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71400" y="3962400"/>
            <a:ext cx="10236200" cy="736600"/>
          </a:xfrm>
          <a:prstGeom prst="rect">
            <a:avLst/>
          </a:prstGeom>
        </p:spPr>
        <p:txBody>
          <a:bodyPr anchor="t" rtlCol="false" lIns="0" tIns="50443" rIns="0" bIns="0"/>
          <a:lstStyle/>
          <a:p>
            <a:pPr algn="l" lvl="0">
              <a:lnSpc>
                <a:spcPct val="99600"/>
              </a:lnSpc>
            </a:pPr>
            <a:r>
              <a:rPr lang="en-US" sz="39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内容を要約して入力してください。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活動内容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グラフで色々な項目の数値を比較してみましょう。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14600" y="2857500"/>
            <a:ext cx="9779000" cy="9525000"/>
          </a:xfrm>
          <a:prstGeom prst="rect">
            <a:avLst/>
          </a:prstGeom>
          <a:effectLst>
            <a:outerShdw dir="2700000" dist="0" blurRad="476250">
              <a:srgbClr val="000000">
                <a:alpha val="12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534900" y="2857500"/>
            <a:ext cx="9779000" cy="9525000"/>
          </a:xfrm>
          <a:prstGeom prst="rect">
            <a:avLst/>
          </a:prstGeom>
          <a:effectLst>
            <a:outerShdw dir="2700000" dist="0" blurRad="476250">
              <a:srgbClr val="000000">
                <a:alpha val="12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13423900" y="3505200"/>
            <a:ext cx="8128000" cy="554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3924300" y="3835400"/>
            <a:ext cx="6959600" cy="4876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045200" y="6121400"/>
            <a:ext cx="2438400" cy="1206500"/>
          </a:xfrm>
          <a:prstGeom prst="rect">
            <a:avLst/>
          </a:prstGeom>
        </p:spPr>
        <p:txBody>
          <a:bodyPr anchor="t" rtlCol="false" lIns="0" tIns="84140" rIns="0" bIns="0"/>
          <a:lstStyle/>
          <a:p>
            <a:pPr algn="ctr" lvl="0">
              <a:lnSpc>
                <a:spcPct val="99600"/>
              </a:lnSpc>
            </a:pPr>
            <a:r>
              <a:rPr lang="en-US" sz="6625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70</a:t>
            </a:r>
            <a:r>
              <a:rPr lang="en-US" sz="4356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%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056100" y="3975100"/>
            <a:ext cx="2032000" cy="2032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0">
            <a:off x="2667000" y="9372600"/>
            <a:ext cx="9537700" cy="63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7195800" y="4470400"/>
            <a:ext cx="17526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9518"/>
              </a:lnSpc>
            </a:pPr>
            <a:r>
              <a:rPr lang="en-US" sz="2284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急成長</a:t>
            </a:r>
          </a:p>
          <a:p>
            <a:pPr algn="ctr" lvl="0">
              <a:lnSpc>
                <a:spcPct val="119518"/>
              </a:lnSpc>
            </a:pPr>
            <a:r>
              <a:rPr lang="en-US" sz="3066" b="tru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ポイント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55000" y="4826000"/>
            <a:ext cx="1282700" cy="647700"/>
          </a:xfrm>
          <a:prstGeom prst="rect">
            <a:avLst/>
          </a:prstGeom>
        </p:spPr>
        <p:txBody>
          <a:bodyPr anchor="t" rtlCol="false" lIns="0" tIns="43906" rIns="0" bIns="0"/>
          <a:lstStyle/>
          <a:p>
            <a:pPr algn="ctr" lvl="0">
              <a:lnSpc>
                <a:spcPct val="99600"/>
              </a:lnSpc>
            </a:pPr>
            <a:r>
              <a:rPr lang="en-US" sz="3457" b="false" i="false" u="none" strike="noStrike">
                <a:solidFill>
                  <a:srgbClr val="FF9A42">
                    <a:alpha val="50196"/>
                  </a:srgbClr>
                </a:solidFill>
                <a:latin typeface="Pretendard JP Bold"/>
                <a:ea typeface="Pretendard JP Bold"/>
                <a:cs typeface="Pretendard JP Bold"/>
              </a:rPr>
              <a:t>20</a:t>
            </a:r>
            <a:r>
              <a:rPr lang="en-US" sz="2560" b="false" i="false" u="none" strike="noStrike">
                <a:solidFill>
                  <a:srgbClr val="FF9A42">
                    <a:alpha val="50196"/>
                  </a:srgbClr>
                </a:solidFill>
                <a:latin typeface="Pretendard JP Bold"/>
                <a:ea typeface="Pretendard JP Bold"/>
                <a:cs typeface="Pretendard JP Bold"/>
              </a:rPr>
              <a:t>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78900" y="5969000"/>
            <a:ext cx="1155700" cy="584200"/>
          </a:xfrm>
          <a:prstGeom prst="rect">
            <a:avLst/>
          </a:prstGeom>
        </p:spPr>
        <p:txBody>
          <a:bodyPr anchor="t" rtlCol="false" lIns="0" tIns="39352" rIns="0" bIns="0"/>
          <a:lstStyle/>
          <a:p>
            <a:pPr algn="ctr" lvl="0">
              <a:lnSpc>
                <a:spcPct val="99600"/>
              </a:lnSpc>
            </a:pPr>
            <a:r>
              <a:rPr lang="en-US" sz="3098" b="false" i="false" u="none" strike="noStrike">
                <a:solidFill>
                  <a:srgbClr val="FF9A42">
                    <a:alpha val="50196"/>
                  </a:srgbClr>
                </a:solidFill>
                <a:latin typeface="Pretendard JP Bold"/>
                <a:ea typeface="Pretendard JP Bold"/>
                <a:cs typeface="Pretendard JP Bold"/>
              </a:rPr>
              <a:t>10</a:t>
            </a:r>
            <a:r>
              <a:rPr lang="en-US" sz="2295" b="false" i="false" u="none" strike="noStrike">
                <a:solidFill>
                  <a:srgbClr val="FF9A42">
                    <a:alpha val="50196"/>
                  </a:srgbClr>
                </a:solidFill>
                <a:latin typeface="Pretendard JP Bold"/>
                <a:ea typeface="Pretendard JP Bold"/>
                <a:cs typeface="Pretendard JP Bold"/>
              </a:rPr>
              <a:t>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36900" y="9753600"/>
            <a:ext cx="8483600" cy="6223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製品別市場シェア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24200" y="10566400"/>
            <a:ext cx="8509000" cy="123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円グラフは項目の比重を直観的に分かりやすく表現します。</a:t>
            </a:r>
          </a:p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全体のうち各項目が占める割合を示してみましょう。目標達成率や</a:t>
            </a:r>
          </a:p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予算配分率を視覚的に表現するために使用してみましょう。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0">
            <a:off x="12712700" y="9385300"/>
            <a:ext cx="9537700" cy="63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3169900" y="9753600"/>
            <a:ext cx="8483600" cy="6223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四半期別売上成績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69900" y="10579100"/>
            <a:ext cx="8509000" cy="123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エリアチャートは、数値の推移と構成比を同時に視覚化でき、</a:t>
            </a:r>
          </a:p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四半期ごとの売上やコストの変化を把握するのに適しています。</a:t>
            </a:r>
          </a:p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全体と項目別の変化を捉え、戦略判断に役立ちます。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3項目のテキスト構成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このページのレイアウトを活用し、様々な内容をわかりやすくまとめてみましょう。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921000" y="3263900"/>
            <a:ext cx="19278600" cy="2794000"/>
          </a:xfrm>
          <a:prstGeom prst="rect">
            <a:avLst/>
          </a:prstGeom>
          <a:effectLst>
            <a:outerShdw dir="2700000" dist="0" blurRad="279400">
              <a:srgbClr val="000000">
                <a:alpha val="12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921000" y="6375400"/>
            <a:ext cx="19278600" cy="2794000"/>
          </a:xfrm>
          <a:prstGeom prst="rect">
            <a:avLst/>
          </a:prstGeom>
          <a:effectLst>
            <a:outerShdw dir="2700000" dist="0" blurRad="279400">
              <a:srgbClr val="000000">
                <a:alpha val="12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921000" y="9461500"/>
            <a:ext cx="19278600" cy="2794000"/>
          </a:xfrm>
          <a:prstGeom prst="rect">
            <a:avLst/>
          </a:prstGeom>
          <a:effectLst>
            <a:outerShdw dir="2700000" dist="0" blurRad="279400">
              <a:srgbClr val="000000">
                <a:alpha val="12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00" y="10096500"/>
            <a:ext cx="1511300" cy="1511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62400" y="10261600"/>
            <a:ext cx="1193800" cy="1193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778500" y="10045700"/>
            <a:ext cx="3657600" cy="635000"/>
          </a:xfrm>
          <a:prstGeom prst="rect">
            <a:avLst/>
          </a:prstGeom>
        </p:spPr>
        <p:txBody>
          <a:bodyPr anchor="t" rtlCol="false" lIns="0" tIns="43270" rIns="0" bIns="0"/>
          <a:lstStyle/>
          <a:p>
            <a:pPr algn="l" lvl="0">
              <a:lnSpc>
                <a:spcPct val="99600"/>
              </a:lnSpc>
            </a:pPr>
            <a:r>
              <a:rPr lang="en-US" sz="340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キーワード3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78500" y="10744200"/>
            <a:ext cx="87630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3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この項目では、キーワード3の説明を書くことができます。</a:t>
            </a:r>
          </a:p>
          <a:p>
            <a:pPr algn="l" lvl="0">
              <a:lnSpc>
                <a:spcPct val="132800"/>
              </a:lnSpc>
            </a:pPr>
            <a:r>
              <a:rPr lang="en-US" sz="23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キーワード１の主な特徴を紹介し、参加者の理解を促しましょう。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76500" y="2921000"/>
            <a:ext cx="5600700" cy="9652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5455900" y="4076700"/>
            <a:ext cx="50292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933" b="tru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このページは、テーマを</a:t>
            </a:r>
          </a:p>
          <a:p>
            <a:pPr algn="ctr" lvl="0">
              <a:lnSpc>
                <a:spcPct val="124499"/>
              </a:lnSpc>
            </a:pPr>
            <a:r>
              <a:rPr lang="en-US" sz="2933" b="tru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3つの項目に分けることで、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455900" y="7175500"/>
            <a:ext cx="50292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933" b="tru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より分かりやすく</a:t>
            </a:r>
          </a:p>
          <a:p>
            <a:pPr algn="ctr" lvl="0">
              <a:lnSpc>
                <a:spcPct val="124499"/>
              </a:lnSpc>
            </a:pPr>
            <a:r>
              <a:rPr lang="en-US" sz="2933" b="tru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説明できるページです。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55900" y="10287000"/>
            <a:ext cx="50292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933" b="tru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レイアウトを活用し</a:t>
            </a:r>
          </a:p>
          <a:p>
            <a:pPr algn="ctr" lvl="0">
              <a:lnSpc>
                <a:spcPct val="124499"/>
              </a:lnSpc>
            </a:pPr>
            <a:r>
              <a:rPr lang="en-US" sz="2933" b="tru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まとめてみましょう。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 rot="0">
            <a:off x="15468600" y="6159500"/>
            <a:ext cx="5003800" cy="76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 rot="0">
            <a:off x="15468600" y="9271000"/>
            <a:ext cx="5003800" cy="762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5778500" y="3860800"/>
            <a:ext cx="3657600" cy="635000"/>
          </a:xfrm>
          <a:prstGeom prst="rect">
            <a:avLst/>
          </a:prstGeom>
        </p:spPr>
        <p:txBody>
          <a:bodyPr anchor="t" rtlCol="false" lIns="0" tIns="43270" rIns="0" bIns="0"/>
          <a:lstStyle/>
          <a:p>
            <a:pPr algn="l" lvl="0">
              <a:lnSpc>
                <a:spcPct val="99600"/>
              </a:lnSpc>
            </a:pPr>
            <a:r>
              <a:rPr lang="en-US" sz="340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キーワード1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78500" y="4546600"/>
            <a:ext cx="87630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3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この項目では、キーワード3の説明を書くことができます。</a:t>
            </a:r>
          </a:p>
          <a:p>
            <a:pPr algn="l" lvl="0">
              <a:lnSpc>
                <a:spcPct val="132800"/>
              </a:lnSpc>
            </a:pPr>
            <a:r>
              <a:rPr lang="en-US" sz="23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キーワード１の主な特徴を紹介し、参加者の理解を促しましょう。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771900" y="3911600"/>
            <a:ext cx="1536700" cy="1536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937000" y="4064000"/>
            <a:ext cx="1219200" cy="12192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5778500" y="6972300"/>
            <a:ext cx="3657600" cy="635000"/>
          </a:xfrm>
          <a:prstGeom prst="rect">
            <a:avLst/>
          </a:prstGeom>
        </p:spPr>
        <p:txBody>
          <a:bodyPr anchor="t" rtlCol="false" lIns="0" tIns="43270" rIns="0" bIns="0"/>
          <a:lstStyle/>
          <a:p>
            <a:pPr algn="l" lvl="0">
              <a:lnSpc>
                <a:spcPct val="99600"/>
              </a:lnSpc>
            </a:pPr>
            <a:r>
              <a:rPr lang="en-US" sz="340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キーワード2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78500" y="7658100"/>
            <a:ext cx="87630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3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この項目では、キーワード3の説明を書くことができます。</a:t>
            </a:r>
          </a:p>
          <a:p>
            <a:pPr algn="l" lvl="0">
              <a:lnSpc>
                <a:spcPct val="132800"/>
              </a:lnSpc>
            </a:pPr>
            <a:r>
              <a:rPr lang="en-US" sz="23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キーワード１の主な特徴を紹介し、参加者の理解を促しましょう。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771900" y="7023100"/>
            <a:ext cx="1536700" cy="1536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924300" y="7175500"/>
            <a:ext cx="1219200" cy="12192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413000" y="3149600"/>
            <a:ext cx="5715000" cy="7239000"/>
          </a:xfrm>
          <a:prstGeom prst="rect">
            <a:avLst/>
          </a:prstGeom>
          <a:effectLst>
            <a:outerShdw dir="2700000" dist="0" blurRad="571500">
              <a:srgbClr val="000000">
                <a:alpha val="12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83700" y="3149600"/>
            <a:ext cx="5715000" cy="7239000"/>
          </a:xfrm>
          <a:prstGeom prst="rect">
            <a:avLst/>
          </a:prstGeom>
          <a:effectLst>
            <a:outerShdw dir="2700000" dist="0" blurRad="571500">
              <a:srgbClr val="000000">
                <a:alpha val="12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256000" y="3149600"/>
            <a:ext cx="5715000" cy="7239000"/>
          </a:xfrm>
          <a:prstGeom prst="rect">
            <a:avLst/>
          </a:prstGeom>
          <a:effectLst>
            <a:outerShdw dir="2700000" dist="0" blurRad="571500">
              <a:srgbClr val="000000">
                <a:alpha val="12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356600" y="6756400"/>
            <a:ext cx="800100" cy="33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5201900" y="6756400"/>
            <a:ext cx="800100" cy="330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0">
            <a:off x="9321800" y="5651500"/>
            <a:ext cx="5626100" cy="635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944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441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/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441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当該キーワードに関する説明を
追加してください。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441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ボタン型リストや番号を活用して
内容を整理してみましょう。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441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短文で簡潔に分かりやすく
入力してください。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106400" y="3924300"/>
            <a:ext cx="1371600" cy="1371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271500" y="4089400"/>
            <a:ext cx="1041400" cy="1041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0">
            <a:off x="16306800" y="5651500"/>
            <a:ext cx="5626100" cy="635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6929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9164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/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164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当該キーワードに関する説明を
追加してください。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9164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ボタン型リストや番号を活用して
内容を整理してみましょう。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9164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短文で簡潔に分かりやすく
入力してください。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78700" y="3924300"/>
            <a:ext cx="1371600" cy="1371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231100" y="4089400"/>
            <a:ext cx="1054100" cy="1054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0">
            <a:off x="2451100" y="5651500"/>
            <a:ext cx="5626100" cy="635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3086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734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/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734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当該キーワードに関する説明を
追加してください。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734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ボタン型リストや番号を活用して
内容を整理してみましょう。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734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短文で簡潔に分かりやすく
入力してください。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235700" y="3924300"/>
            <a:ext cx="1371600" cy="1371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400800" y="4089400"/>
            <a:ext cx="1041400" cy="10414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3段レイアウト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3つの情報を並べて整理するのに適した ページです。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04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387600" y="10896600"/>
            <a:ext cx="19608800" cy="1460500"/>
          </a:xfrm>
          <a:prstGeom prst="rect">
            <a:avLst/>
          </a:prstGeom>
          <a:effectLst>
            <a:outerShdw dir="2700000" dist="0" blurRad="109538">
              <a:srgbClr val="000000">
                <a:alpha val="12000"/>
              </a:srgbClr>
            </a:outerShdw>
          </a:effectLst>
        </p:spPr>
      </p:pic>
      <p:sp>
        <p:nvSpPr>
          <p:cNvPr name="TextBox 38" id="38"/>
          <p:cNvSpPr txBox="true"/>
          <p:nvPr/>
        </p:nvSpPr>
        <p:spPr>
          <a:xfrm rot="0">
            <a:off x="5435600" y="11188700"/>
            <a:ext cx="135001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363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活動内容について説明してみましょう。長文よりも</a:t>
            </a:r>
          </a:p>
          <a:p>
            <a:pPr algn="ctr" lvl="0">
              <a:lnSpc>
                <a:spcPct val="120350"/>
              </a:lnSpc>
            </a:pPr>
            <a:r>
              <a:rPr lang="en-US" sz="2363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短文を使用することでページをよりスッキリと見せることができます。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写真とテキストによる4段組み構成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写真とその説明を4つの項目に分けることで、より理解度を深めることができるページです。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05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27400" y="2781300"/>
            <a:ext cx="18351500" cy="2273300"/>
          </a:xfrm>
          <a:prstGeom prst="rect">
            <a:avLst/>
          </a:prstGeom>
          <a:effectLst>
            <a:outerShdw dir="2700000" dist="0" blurRad="227330">
              <a:srgbClr val="000000">
                <a:alpha val="12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5400000">
            <a:off x="4343400" y="3924300"/>
            <a:ext cx="2044700" cy="63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573500" y="2870200"/>
            <a:ext cx="3962400" cy="2184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753100" y="3302000"/>
            <a:ext cx="3149600" cy="558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70300" y="3479800"/>
            <a:ext cx="1498600" cy="863600"/>
          </a:xfrm>
          <a:prstGeom prst="rect">
            <a:avLst/>
          </a:prstGeom>
        </p:spPr>
        <p:txBody>
          <a:bodyPr anchor="t" rtlCol="false" lIns="0" tIns="59267" rIns="0" bIns="0"/>
          <a:lstStyle/>
          <a:p>
            <a:pPr algn="ctr" lvl="0">
              <a:lnSpc>
                <a:spcPct val="99600"/>
              </a:lnSpc>
            </a:pPr>
            <a:r>
              <a:rPr lang="en-US" sz="4666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53100" y="3886200"/>
            <a:ext cx="10566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この文章はダミーです。写真とその説明を4つの項目に分けることで、より理解度を深めることが</a:t>
            </a:r>
          </a:p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できるページです。他の項目との違いを記入することで、特徴を強調することもできます。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27400" y="5346700"/>
            <a:ext cx="18351500" cy="2273300"/>
          </a:xfrm>
          <a:prstGeom prst="rect">
            <a:avLst/>
          </a:prstGeom>
          <a:effectLst>
            <a:outerShdw dir="2700000" dist="0" blurRad="227330">
              <a:srgbClr val="000000">
                <a:alpha val="12000"/>
              </a:srgbClr>
            </a:outerShdw>
          </a:effectLst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5400000">
            <a:off x="4343400" y="6477000"/>
            <a:ext cx="2044700" cy="6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73500" y="5422900"/>
            <a:ext cx="3962400" cy="2184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5753100" y="5867400"/>
            <a:ext cx="3149600" cy="558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70300" y="6032500"/>
            <a:ext cx="1498600" cy="863600"/>
          </a:xfrm>
          <a:prstGeom prst="rect">
            <a:avLst/>
          </a:prstGeom>
        </p:spPr>
        <p:txBody>
          <a:bodyPr anchor="t" rtlCol="false" lIns="0" tIns="59267" rIns="0" bIns="0"/>
          <a:lstStyle/>
          <a:p>
            <a:pPr algn="ctr" lvl="0">
              <a:lnSpc>
                <a:spcPct val="99600"/>
              </a:lnSpc>
            </a:pPr>
            <a:r>
              <a:rPr lang="en-US" sz="4666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53100" y="6438900"/>
            <a:ext cx="10566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この文章はダミーです。写真とその説明を4つの項目に分けることで、より理解度を深めることが</a:t>
            </a:r>
          </a:p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できるページです。他の項目との違いを記入することで、特徴を強調することもできます。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27400" y="7899400"/>
            <a:ext cx="18351500" cy="2273300"/>
          </a:xfrm>
          <a:prstGeom prst="rect">
            <a:avLst/>
          </a:prstGeom>
          <a:effectLst>
            <a:outerShdw dir="2700000" dist="0" blurRad="227330">
              <a:srgbClr val="000000">
                <a:alpha val="12000"/>
              </a:srgbClr>
            </a:outerShdw>
          </a:effectLst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5400000">
            <a:off x="4343400" y="9029700"/>
            <a:ext cx="2044700" cy="63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73500" y="7975600"/>
            <a:ext cx="3962400" cy="21844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5753100" y="8420100"/>
            <a:ext cx="3149600" cy="558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70300" y="8585200"/>
            <a:ext cx="1498600" cy="863600"/>
          </a:xfrm>
          <a:prstGeom prst="rect">
            <a:avLst/>
          </a:prstGeom>
        </p:spPr>
        <p:txBody>
          <a:bodyPr anchor="t" rtlCol="false" lIns="0" tIns="59267" rIns="0" bIns="0"/>
          <a:lstStyle/>
          <a:p>
            <a:pPr algn="ctr" lvl="0">
              <a:lnSpc>
                <a:spcPct val="99600"/>
              </a:lnSpc>
            </a:pPr>
            <a:r>
              <a:rPr lang="en-US" sz="4666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53100" y="9004300"/>
            <a:ext cx="10566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この文章はダミーです。写真とその説明を4つの項目に分けることで、より理解度を深めることが</a:t>
            </a:r>
          </a:p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できるページです。他の項目との違いを記入することで、特徴を強調することもできます。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27400" y="10452100"/>
            <a:ext cx="18351500" cy="2273300"/>
          </a:xfrm>
          <a:prstGeom prst="rect">
            <a:avLst/>
          </a:prstGeom>
          <a:effectLst>
            <a:outerShdw dir="2700000" dist="0" blurRad="227330">
              <a:srgbClr val="000000">
                <a:alpha val="12000"/>
              </a:srgbClr>
            </a:outerShdw>
          </a:effectLst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5400000">
            <a:off x="4343400" y="11595100"/>
            <a:ext cx="2044700" cy="63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573500" y="10541000"/>
            <a:ext cx="3962400" cy="21844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5753100" y="10972800"/>
            <a:ext cx="3149600" cy="558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670300" y="11150600"/>
            <a:ext cx="1498600" cy="863600"/>
          </a:xfrm>
          <a:prstGeom prst="rect">
            <a:avLst/>
          </a:prstGeom>
        </p:spPr>
        <p:txBody>
          <a:bodyPr anchor="t" rtlCol="false" lIns="0" tIns="59267" rIns="0" bIns="0"/>
          <a:lstStyle/>
          <a:p>
            <a:pPr algn="ctr" lvl="0">
              <a:lnSpc>
                <a:spcPct val="99600"/>
              </a:lnSpc>
            </a:pPr>
            <a:r>
              <a:rPr lang="en-US" sz="4666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753100" y="11557000"/>
            <a:ext cx="10566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この文章はダミーです。写真とその説明を4つの項目に分けることで、より理解度を深めることが</a:t>
            </a:r>
          </a:p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できるページです。他の項目との違いを記入することで、特徴を強調することもできます。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写真とテキストによる4段組み構成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写真とその説明を4つの項目に分けることで、より理解度を深めることができるページです。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06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112000" y="3162300"/>
            <a:ext cx="5067300" cy="8978900"/>
          </a:xfrm>
          <a:prstGeom prst="rect">
            <a:avLst/>
          </a:prstGeom>
          <a:effectLst>
            <a:outerShdw dir="2700000" dist="0" blurRad="506730">
              <a:srgbClr val="000000">
                <a:alpha val="8000"/>
              </a:srgbClr>
            </a:outerShdw>
          </a:effectLst>
        </p:spPr>
      </p:pic>
      <p:sp>
        <p:nvSpPr>
          <p:cNvPr name="TextBox 9" id="9"/>
          <p:cNvSpPr txBox="true"/>
          <p:nvPr/>
        </p:nvSpPr>
        <p:spPr>
          <a:xfrm rot="0">
            <a:off x="7632700" y="7835900"/>
            <a:ext cx="3149600" cy="571500"/>
          </a:xfrm>
          <a:prstGeom prst="rect">
            <a:avLst/>
          </a:prstGeom>
        </p:spPr>
        <p:txBody>
          <a:bodyPr anchor="t" rtlCol="false" lIns="0" tIns="38947" rIns="0" bIns="0"/>
          <a:lstStyle/>
          <a:p>
            <a:pPr algn="l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32700" y="8636000"/>
            <a:ext cx="4102100" cy="302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説明を4つの項目に分けることで、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より理解度を深めることができる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ページです。タイトル1の特徴と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メリットを記入し、よりわかりやすい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資料にしてみましょう。他の項目との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違いを記入することで、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特徴を強調することもできます。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446000" y="3162300"/>
            <a:ext cx="5067300" cy="8978900"/>
          </a:xfrm>
          <a:prstGeom prst="rect">
            <a:avLst/>
          </a:prstGeom>
          <a:effectLst>
            <a:outerShdw dir="2700000" dist="0" blurRad="506730">
              <a:srgbClr val="000000">
                <a:alpha val="8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12966700" y="7835900"/>
            <a:ext cx="3149600" cy="571500"/>
          </a:xfrm>
          <a:prstGeom prst="rect">
            <a:avLst/>
          </a:prstGeom>
        </p:spPr>
        <p:txBody>
          <a:bodyPr anchor="t" rtlCol="false" lIns="0" tIns="38947" rIns="0" bIns="0"/>
          <a:lstStyle/>
          <a:p>
            <a:pPr algn="l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66700" y="8636000"/>
            <a:ext cx="4102100" cy="302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説明を4つの項目に分けることで、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より理解度を深めることができる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ページです。タイトル1の特徴と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メリットを記入し、よりわかりやすい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資料にしてみましょう。他の項目との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違いを記入することで、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特徴を強調することもできます。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780000" y="3162300"/>
            <a:ext cx="5067300" cy="8978900"/>
          </a:xfrm>
          <a:prstGeom prst="rect">
            <a:avLst/>
          </a:prstGeom>
          <a:effectLst>
            <a:outerShdw dir="2700000" dist="0" blurRad="506730">
              <a:srgbClr val="000000">
                <a:alpha val="8000"/>
              </a:srgbClr>
            </a:outerShdw>
          </a:effectLst>
        </p:spPr>
      </p:pic>
      <p:sp>
        <p:nvSpPr>
          <p:cNvPr name="TextBox 15" id="15"/>
          <p:cNvSpPr txBox="true"/>
          <p:nvPr/>
        </p:nvSpPr>
        <p:spPr>
          <a:xfrm rot="0">
            <a:off x="18300700" y="7835900"/>
            <a:ext cx="3149600" cy="571500"/>
          </a:xfrm>
          <a:prstGeom prst="rect">
            <a:avLst/>
          </a:prstGeom>
        </p:spPr>
        <p:txBody>
          <a:bodyPr anchor="t" rtlCol="false" lIns="0" tIns="38947" rIns="0" bIns="0"/>
          <a:lstStyle/>
          <a:p>
            <a:pPr algn="l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300700" y="8636000"/>
            <a:ext cx="4102100" cy="302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説明を4つの項目に分けることで、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より理解度を深めることができる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ページです。タイトル1の特徴と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メリットを記入し、よりわかりやすい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資料にしてみましょう。他の項目との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違いを記入することで、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特徴を強調することもできます。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90700" y="3162300"/>
            <a:ext cx="5067300" cy="8978900"/>
          </a:xfrm>
          <a:prstGeom prst="rect">
            <a:avLst/>
          </a:prstGeom>
          <a:effectLst>
            <a:outerShdw dir="2700000" dist="0" blurRad="506730">
              <a:srgbClr val="000000">
                <a:alpha val="8000"/>
              </a:srgbClr>
            </a:outerShdw>
          </a:effectLst>
        </p:spPr>
      </p:pic>
      <p:sp>
        <p:nvSpPr>
          <p:cNvPr name="TextBox 18" id="18"/>
          <p:cNvSpPr txBox="true"/>
          <p:nvPr/>
        </p:nvSpPr>
        <p:spPr>
          <a:xfrm rot="0">
            <a:off x="2311400" y="7835900"/>
            <a:ext cx="3149600" cy="571500"/>
          </a:xfrm>
          <a:prstGeom prst="rect">
            <a:avLst/>
          </a:prstGeom>
        </p:spPr>
        <p:txBody>
          <a:bodyPr anchor="t" rtlCol="false" lIns="0" tIns="38947" rIns="0" bIns="0"/>
          <a:lstStyle/>
          <a:p>
            <a:pPr algn="l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11400" y="8636000"/>
            <a:ext cx="4102100" cy="302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説明を4つの項目に分けることで、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より理解度を深めることができる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ページです。タイトル1の特徴と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メリットを記入し、よりわかりやすい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資料にしてみましょう。他の項目との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違いを記入することで、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特徴を強調することもできます。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組織図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組織の配置が一目で分かるページです。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07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33900" y="4762500"/>
            <a:ext cx="15303500" cy="71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664700" y="5130800"/>
            <a:ext cx="139700" cy="34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617700" y="5130800"/>
            <a:ext cx="139700" cy="342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69500" y="2692400"/>
            <a:ext cx="4445000" cy="1955800"/>
          </a:xfrm>
          <a:prstGeom prst="rect">
            <a:avLst/>
          </a:prstGeom>
          <a:effectLst>
            <a:outerShdw dir="2700000" dist="0" blurRad="195580">
              <a:srgbClr val="000000">
                <a:alpha val="20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11938000" y="3746500"/>
            <a:ext cx="2247900" cy="355600"/>
          </a:xfrm>
          <a:prstGeom prst="rect">
            <a:avLst/>
          </a:prstGeom>
        </p:spPr>
        <p:txBody>
          <a:bodyPr anchor="t" rtlCol="false" lIns="0" tIns="23453" rIns="0" bIns="0"/>
          <a:lstStyle/>
          <a:p>
            <a:pPr algn="l" lvl="0">
              <a:lnSpc>
                <a:spcPct val="99600"/>
              </a:lnSpc>
            </a:pPr>
            <a:r>
              <a:rPr lang="en-US" sz="184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山本真人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38000" y="3225800"/>
            <a:ext cx="2286000" cy="558800"/>
          </a:xfrm>
          <a:prstGeom prst="rect">
            <a:avLst/>
          </a:prstGeom>
        </p:spPr>
        <p:txBody>
          <a:bodyPr anchor="t" rtlCol="false" lIns="0" tIns="37904" rIns="0" bIns="0"/>
          <a:lstStyle/>
          <a:p>
            <a:pPr algn="l" lvl="0">
              <a:lnSpc>
                <a:spcPct val="99600"/>
              </a:lnSpc>
            </a:pPr>
            <a:r>
              <a:rPr lang="en-US" sz="2984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CEO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7106900" y="9817100"/>
            <a:ext cx="5181600" cy="50800"/>
          </a:xfrm>
          <a:prstGeom prst="rect">
            <a:avLst/>
          </a:prstGeom>
          <a:effectLst>
            <a:outerShdw dir="189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462500" y="5613400"/>
            <a:ext cx="4445000" cy="1955800"/>
          </a:xfrm>
          <a:prstGeom prst="rect">
            <a:avLst/>
          </a:prstGeom>
          <a:effectLst>
            <a:outerShdw dir="2700000" dist="0" blurRad="195580">
              <a:srgbClr val="000000">
                <a:alpha val="20000"/>
              </a:srgbClr>
            </a:outerShdw>
          </a:effectLst>
        </p:spPr>
      </p:pic>
      <p:sp>
        <p:nvSpPr>
          <p:cNvPr name="TextBox 16" id="16"/>
          <p:cNvSpPr txBox="true"/>
          <p:nvPr/>
        </p:nvSpPr>
        <p:spPr>
          <a:xfrm rot="0">
            <a:off x="19469100" y="6616700"/>
            <a:ext cx="2247900" cy="355600"/>
          </a:xfrm>
          <a:prstGeom prst="rect">
            <a:avLst/>
          </a:prstGeom>
        </p:spPr>
        <p:txBody>
          <a:bodyPr anchor="t" rtlCol="false" lIns="0" tIns="23453" rIns="0" bIns="0"/>
          <a:lstStyle/>
          <a:p>
            <a:pPr algn="l" lvl="0">
              <a:lnSpc>
                <a:spcPct val="99600"/>
              </a:lnSpc>
            </a:pPr>
            <a:r>
              <a:rPr lang="en-US" sz="184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山本真人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469100" y="6184900"/>
            <a:ext cx="2425700" cy="444500"/>
          </a:xfrm>
          <a:prstGeom prst="rect">
            <a:avLst/>
          </a:prstGeom>
        </p:spPr>
        <p:txBody>
          <a:bodyPr anchor="t" rtlCol="false" lIns="0" tIns="29110" rIns="0" bIns="0"/>
          <a:lstStyle/>
          <a:p>
            <a:pPr algn="l" lvl="0">
              <a:lnSpc>
                <a:spcPct val="99600"/>
              </a:lnSpc>
            </a:pPr>
            <a:r>
              <a:rPr lang="en-US" sz="2292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マーケティング部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211800" y="83058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19" id="19"/>
          <p:cNvSpPr txBox="true"/>
          <p:nvPr/>
        </p:nvSpPr>
        <p:spPr>
          <a:xfrm rot="0">
            <a:off x="19151600" y="84328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黒沢 恵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211800" y="92456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21" id="21"/>
          <p:cNvSpPr txBox="true"/>
          <p:nvPr/>
        </p:nvSpPr>
        <p:spPr>
          <a:xfrm rot="0">
            <a:off x="19151600" y="93726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中村 大輔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211800" y="101854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23" id="23"/>
          <p:cNvSpPr txBox="true"/>
          <p:nvPr/>
        </p:nvSpPr>
        <p:spPr>
          <a:xfrm rot="0">
            <a:off x="19151600" y="103124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下村 彩香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211800" y="111252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25" id="25"/>
          <p:cNvSpPr txBox="true"/>
          <p:nvPr/>
        </p:nvSpPr>
        <p:spPr>
          <a:xfrm rot="0">
            <a:off x="19151600" y="112522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井上 千佳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211800" y="120650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27" id="27"/>
          <p:cNvSpPr txBox="true"/>
          <p:nvPr/>
        </p:nvSpPr>
        <p:spPr>
          <a:xfrm rot="0">
            <a:off x="19151600" y="121920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高橋 健太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115800" y="9791700"/>
            <a:ext cx="5181600" cy="50800"/>
          </a:xfrm>
          <a:prstGeom prst="rect">
            <a:avLst/>
          </a:prstGeom>
          <a:effectLst>
            <a:outerShdw dir="189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471400" y="5600700"/>
            <a:ext cx="4445000" cy="1955800"/>
          </a:xfrm>
          <a:prstGeom prst="rect">
            <a:avLst/>
          </a:prstGeom>
          <a:effectLst>
            <a:outerShdw dir="2700000" dist="0" blurRad="195580">
              <a:srgbClr val="000000">
                <a:alpha val="20000"/>
              </a:srgbClr>
            </a:outerShdw>
          </a:effectLst>
        </p:spPr>
      </p:pic>
      <p:sp>
        <p:nvSpPr>
          <p:cNvPr name="TextBox 30" id="30"/>
          <p:cNvSpPr txBox="true"/>
          <p:nvPr/>
        </p:nvSpPr>
        <p:spPr>
          <a:xfrm rot="0">
            <a:off x="14465300" y="6604000"/>
            <a:ext cx="2247900" cy="355600"/>
          </a:xfrm>
          <a:prstGeom prst="rect">
            <a:avLst/>
          </a:prstGeom>
        </p:spPr>
        <p:txBody>
          <a:bodyPr anchor="t" rtlCol="false" lIns="0" tIns="23453" rIns="0" bIns="0"/>
          <a:lstStyle/>
          <a:p>
            <a:pPr algn="l" lvl="0">
              <a:lnSpc>
                <a:spcPct val="99600"/>
              </a:lnSpc>
            </a:pPr>
            <a:r>
              <a:rPr lang="en-US" sz="184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山本真人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478000" y="6172200"/>
            <a:ext cx="2425700" cy="444500"/>
          </a:xfrm>
          <a:prstGeom prst="rect">
            <a:avLst/>
          </a:prstGeom>
        </p:spPr>
        <p:txBody>
          <a:bodyPr anchor="t" rtlCol="false" lIns="0" tIns="29108" rIns="0" bIns="0"/>
          <a:lstStyle/>
          <a:p>
            <a:pPr algn="l" lvl="0">
              <a:lnSpc>
                <a:spcPct val="99600"/>
              </a:lnSpc>
            </a:pPr>
            <a:r>
              <a:rPr lang="en-US" sz="2292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情報システム部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20700" y="82931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33" id="33"/>
          <p:cNvSpPr txBox="true"/>
          <p:nvPr/>
        </p:nvSpPr>
        <p:spPr>
          <a:xfrm rot="0">
            <a:off x="14160500" y="84074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黒沢 恵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20700" y="92329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35" id="35"/>
          <p:cNvSpPr txBox="true"/>
          <p:nvPr/>
        </p:nvSpPr>
        <p:spPr>
          <a:xfrm rot="0">
            <a:off x="14160500" y="93472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中村 大輔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20700" y="101727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37" id="37"/>
          <p:cNvSpPr txBox="true"/>
          <p:nvPr/>
        </p:nvSpPr>
        <p:spPr>
          <a:xfrm rot="0">
            <a:off x="14160500" y="102870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下村 彩香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20700" y="111125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39" id="39"/>
          <p:cNvSpPr txBox="true"/>
          <p:nvPr/>
        </p:nvSpPr>
        <p:spPr>
          <a:xfrm rot="0">
            <a:off x="14160500" y="112268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井上 千佳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20700" y="120523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41" id="41"/>
          <p:cNvSpPr txBox="true"/>
          <p:nvPr/>
        </p:nvSpPr>
        <p:spPr>
          <a:xfrm rot="0">
            <a:off x="14160500" y="121666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高橋 健太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124700" y="9791700"/>
            <a:ext cx="5181600" cy="50800"/>
          </a:xfrm>
          <a:prstGeom prst="rect">
            <a:avLst/>
          </a:prstGeom>
          <a:effectLst>
            <a:outerShdw dir="189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467600" y="5600700"/>
            <a:ext cx="4445000" cy="1955800"/>
          </a:xfrm>
          <a:prstGeom prst="rect">
            <a:avLst/>
          </a:prstGeom>
          <a:effectLst>
            <a:outerShdw dir="2700000" dist="0" blurRad="195580">
              <a:srgbClr val="000000">
                <a:alpha val="20000"/>
              </a:srgbClr>
            </a:outerShdw>
          </a:effectLst>
        </p:spPr>
      </p:pic>
      <p:sp>
        <p:nvSpPr>
          <p:cNvPr name="TextBox 44" id="44"/>
          <p:cNvSpPr txBox="true"/>
          <p:nvPr/>
        </p:nvSpPr>
        <p:spPr>
          <a:xfrm rot="0">
            <a:off x="9474200" y="6604000"/>
            <a:ext cx="2247900" cy="355600"/>
          </a:xfrm>
          <a:prstGeom prst="rect">
            <a:avLst/>
          </a:prstGeom>
        </p:spPr>
        <p:txBody>
          <a:bodyPr anchor="t" rtlCol="false" lIns="0" tIns="23453" rIns="0" bIns="0"/>
          <a:lstStyle/>
          <a:p>
            <a:pPr algn="l" lvl="0">
              <a:lnSpc>
                <a:spcPct val="99600"/>
              </a:lnSpc>
            </a:pPr>
            <a:r>
              <a:rPr lang="en-US" sz="184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山本真人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74200" y="6172200"/>
            <a:ext cx="2425700" cy="444500"/>
          </a:xfrm>
          <a:prstGeom prst="rect">
            <a:avLst/>
          </a:prstGeom>
        </p:spPr>
        <p:txBody>
          <a:bodyPr anchor="t" rtlCol="false" lIns="0" tIns="29108" rIns="0" bIns="0"/>
          <a:lstStyle/>
          <a:p>
            <a:pPr algn="l" lvl="0">
              <a:lnSpc>
                <a:spcPct val="99600"/>
              </a:lnSpc>
            </a:pPr>
            <a:r>
              <a:rPr lang="en-US" sz="2292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デザイン部</a:t>
            </a: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29600" y="82931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47" id="47"/>
          <p:cNvSpPr txBox="true"/>
          <p:nvPr/>
        </p:nvSpPr>
        <p:spPr>
          <a:xfrm rot="0">
            <a:off x="9156700" y="84074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黒沢 恵</a:t>
            </a:r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29600" y="92329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49" id="49"/>
          <p:cNvSpPr txBox="true"/>
          <p:nvPr/>
        </p:nvSpPr>
        <p:spPr>
          <a:xfrm rot="0">
            <a:off x="9156700" y="93472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中村 大輔</a:t>
            </a:r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29600" y="101727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51" id="51"/>
          <p:cNvSpPr txBox="true"/>
          <p:nvPr/>
        </p:nvSpPr>
        <p:spPr>
          <a:xfrm rot="0">
            <a:off x="9156700" y="102870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下村 彩香</a:t>
            </a:r>
          </a:p>
        </p:txBody>
      </p:sp>
      <p:pic>
        <p:nvPicPr>
          <p:cNvPr name="Picture 52" id="5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29600" y="111125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53" id="53"/>
          <p:cNvSpPr txBox="true"/>
          <p:nvPr/>
        </p:nvSpPr>
        <p:spPr>
          <a:xfrm rot="0">
            <a:off x="9156700" y="112268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井上 千佳</a:t>
            </a:r>
          </a:p>
        </p:txBody>
      </p:sp>
      <p:pic>
        <p:nvPicPr>
          <p:cNvPr name="Picture 54" id="5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29600" y="120523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55" id="55"/>
          <p:cNvSpPr txBox="true"/>
          <p:nvPr/>
        </p:nvSpPr>
        <p:spPr>
          <a:xfrm rot="0">
            <a:off x="9156700" y="121666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高橋 健太</a:t>
            </a:r>
          </a:p>
        </p:txBody>
      </p:sp>
      <p:pic>
        <p:nvPicPr>
          <p:cNvPr name="Picture 56" id="5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120900" y="9791700"/>
            <a:ext cx="5181600" cy="50800"/>
          </a:xfrm>
          <a:prstGeom prst="rect">
            <a:avLst/>
          </a:prstGeom>
          <a:effectLst>
            <a:outerShdw dir="189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476500" y="5600700"/>
            <a:ext cx="4445000" cy="1955800"/>
          </a:xfrm>
          <a:prstGeom prst="rect">
            <a:avLst/>
          </a:prstGeom>
          <a:effectLst>
            <a:outerShdw dir="2700000" dist="0" blurRad="195580">
              <a:srgbClr val="000000">
                <a:alpha val="20000"/>
              </a:srgbClr>
            </a:outerShdw>
          </a:effectLst>
        </p:spPr>
      </p:pic>
      <p:sp>
        <p:nvSpPr>
          <p:cNvPr name="TextBox 58" id="58"/>
          <p:cNvSpPr txBox="true"/>
          <p:nvPr/>
        </p:nvSpPr>
        <p:spPr>
          <a:xfrm rot="0">
            <a:off x="4483100" y="6604000"/>
            <a:ext cx="2247900" cy="355600"/>
          </a:xfrm>
          <a:prstGeom prst="rect">
            <a:avLst/>
          </a:prstGeom>
        </p:spPr>
        <p:txBody>
          <a:bodyPr anchor="t" rtlCol="false" lIns="0" tIns="23453" rIns="0" bIns="0"/>
          <a:lstStyle/>
          <a:p>
            <a:pPr algn="l" lvl="0">
              <a:lnSpc>
                <a:spcPct val="99600"/>
              </a:lnSpc>
            </a:pPr>
            <a:r>
              <a:rPr lang="en-US" sz="184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山本真人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483100" y="6172200"/>
            <a:ext cx="2425700" cy="444500"/>
          </a:xfrm>
          <a:prstGeom prst="rect">
            <a:avLst/>
          </a:prstGeom>
        </p:spPr>
        <p:txBody>
          <a:bodyPr anchor="t" rtlCol="false" lIns="0" tIns="29108" rIns="0" bIns="0"/>
          <a:lstStyle/>
          <a:p>
            <a:pPr algn="l" lvl="0">
              <a:lnSpc>
                <a:spcPct val="99600"/>
              </a:lnSpc>
            </a:pPr>
            <a:r>
              <a:rPr lang="en-US" sz="2292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総務部</a:t>
            </a:r>
          </a:p>
        </p:txBody>
      </p:sp>
      <p:pic>
        <p:nvPicPr>
          <p:cNvPr name="Picture 60" id="6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38500" y="82931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61" id="61"/>
          <p:cNvSpPr txBox="true"/>
          <p:nvPr/>
        </p:nvSpPr>
        <p:spPr>
          <a:xfrm rot="0">
            <a:off x="4165600" y="84074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黒沢 恵</a:t>
            </a:r>
          </a:p>
        </p:txBody>
      </p:sp>
      <p:pic>
        <p:nvPicPr>
          <p:cNvPr name="Picture 62" id="6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38500" y="92329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63" id="63"/>
          <p:cNvSpPr txBox="true"/>
          <p:nvPr/>
        </p:nvSpPr>
        <p:spPr>
          <a:xfrm rot="0">
            <a:off x="4165600" y="93472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中村 大輔</a:t>
            </a:r>
          </a:p>
        </p:txBody>
      </p:sp>
      <p:pic>
        <p:nvPicPr>
          <p:cNvPr name="Picture 64" id="6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38500" y="101727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65" id="65"/>
          <p:cNvSpPr txBox="true"/>
          <p:nvPr/>
        </p:nvSpPr>
        <p:spPr>
          <a:xfrm rot="0">
            <a:off x="4165600" y="102870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下村 彩香</a:t>
            </a:r>
          </a:p>
        </p:txBody>
      </p:sp>
      <p:pic>
        <p:nvPicPr>
          <p:cNvPr name="Picture 66" id="6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38500" y="111125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67" id="67"/>
          <p:cNvSpPr txBox="true"/>
          <p:nvPr/>
        </p:nvSpPr>
        <p:spPr>
          <a:xfrm rot="0">
            <a:off x="4165600" y="112268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井上 千佳</a:t>
            </a:r>
          </a:p>
        </p:txBody>
      </p:sp>
      <p:pic>
        <p:nvPicPr>
          <p:cNvPr name="Picture 68" id="6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38500" y="120523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69" id="69"/>
          <p:cNvSpPr txBox="true"/>
          <p:nvPr/>
        </p:nvSpPr>
        <p:spPr>
          <a:xfrm rot="0">
            <a:off x="4165600" y="121666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高橋 健太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0800000">
            <a:off x="21209000" y="2933700"/>
            <a:ext cx="1879600" cy="163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463800" y="3136900"/>
            <a:ext cx="8712200" cy="8712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会社概要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会社の主要な情報を紹介するのに適したページです。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08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2204700" y="6832600"/>
          <a:ext cx="10401300" cy="5029200"/>
        </p:xfrm>
        <a:graphic>
          <a:graphicData uri="http://schemas.openxmlformats.org/drawingml/2006/table">
            <a:tbl>
              <a:tblPr/>
              <a:tblGrid>
                <a:gridCol w="3159262"/>
                <a:gridCol w="7192346"/>
              </a:tblGrid>
              <a:tr h="66215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99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業種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製造業 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15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99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企業区分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中小企業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993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99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主な事業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製造機器の開発およびレンタル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15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99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代表取締役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中村麻里子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15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99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従業員数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150名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15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99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設立日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20XX.00.00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926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99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本社所在地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Miridih (ミリディ)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日本本社 東京都○○区○○1-2-3</a:t>
                      </a:r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2192000" y="5422900"/>
            <a:ext cx="61214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5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会社の哲学とビジョンを印象に残るように</a:t>
            </a:r>
          </a:p>
          <a:p>
            <a:pPr algn="l" lvl="0">
              <a:lnSpc>
                <a:spcPct val="120350"/>
              </a:lnSpc>
            </a:pPr>
            <a:r>
              <a:rPr lang="en-US" sz="25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要約してみましょう。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0" y="3403600"/>
            <a:ext cx="10617200" cy="1790700"/>
          </a:xfrm>
          <a:prstGeom prst="rect">
            <a:avLst/>
          </a:prstGeom>
        </p:spPr>
        <p:txBody>
          <a:bodyPr anchor="t" rtlCol="false" lIns="0" tIns="67785" rIns="0" bIns="0"/>
          <a:lstStyle/>
          <a:p>
            <a:pPr algn="l" lvl="0">
              <a:lnSpc>
                <a:spcPct val="99600"/>
              </a:lnSpc>
            </a:pPr>
            <a:r>
              <a:rPr lang="en-US" sz="5337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変化する時代の中で、</a:t>
            </a:r>
          </a:p>
          <a:p>
            <a:pPr algn="l" lvl="0">
              <a:lnSpc>
                <a:spcPct val="99600"/>
              </a:lnSpc>
            </a:pPr>
            <a:r>
              <a:rPr lang="en-US" sz="5337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新しい価値を生み出し続けます。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394700" y="4711700"/>
            <a:ext cx="1308100" cy="10541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7886700" y="5892800"/>
            <a:ext cx="2324100" cy="419100"/>
          </a:xfrm>
          <a:prstGeom prst="rect">
            <a:avLst/>
          </a:prstGeom>
        </p:spPr>
        <p:txBody>
          <a:bodyPr anchor="t" rtlCol="false" lIns="0" tIns="27672" rIns="0" bIns="0"/>
          <a:lstStyle/>
          <a:p>
            <a:pPr algn="ctr" lvl="0">
              <a:lnSpc>
                <a:spcPct val="99600"/>
              </a:lnSpc>
            </a:pPr>
            <a:r>
              <a:rPr lang="en-US" sz="2178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178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業績ハイライト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会社の最近の業績に関する主要数値を要約して入力してください。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09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03500" y="3530600"/>
            <a:ext cx="6057900" cy="3644900"/>
          </a:xfrm>
          <a:prstGeom prst="rect">
            <a:avLst/>
          </a:prstGeom>
          <a:effectLst>
            <a:outerShdw dir="2700000" dist="0" blurRad="364490">
              <a:srgbClr val="000000">
                <a:alpha val="12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03500" y="7416800"/>
            <a:ext cx="6057900" cy="3644900"/>
          </a:xfrm>
          <a:prstGeom prst="rect">
            <a:avLst/>
          </a:prstGeom>
          <a:effectLst>
            <a:outerShdw dir="2700000" dist="0" blurRad="364490">
              <a:srgbClr val="000000">
                <a:alpha val="12000"/>
              </a:srgbClr>
            </a:outerShdw>
          </a:effectLst>
        </p:spPr>
      </p:pic>
      <p:sp>
        <p:nvSpPr>
          <p:cNvPr name="TextBox 10" id="10"/>
          <p:cNvSpPr txBox="true"/>
          <p:nvPr/>
        </p:nvSpPr>
        <p:spPr>
          <a:xfrm rot="0">
            <a:off x="3733800" y="4152900"/>
            <a:ext cx="3949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071" b="tru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売上額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95600" y="4660900"/>
            <a:ext cx="5461000" cy="1397000"/>
          </a:xfrm>
          <a:prstGeom prst="rect">
            <a:avLst/>
          </a:prstGeom>
        </p:spPr>
        <p:txBody>
          <a:bodyPr anchor="t" rtlCol="false" lIns="0" tIns="97814" rIns="0" bIns="0"/>
          <a:lstStyle/>
          <a:p>
            <a:pPr algn="ctr" lvl="0">
              <a:lnSpc>
                <a:spcPct val="99600"/>
              </a:lnSpc>
            </a:pPr>
            <a:r>
              <a:rPr lang="en-US" sz="770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750</a:t>
            </a:r>
            <a:r>
              <a:rPr lang="en-US" sz="5134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億円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46500" y="6070600"/>
            <a:ext cx="3937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527" b="tru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進捗率 55%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33800" y="8064500"/>
            <a:ext cx="3949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071" b="tru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当期純利益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95600" y="8572500"/>
            <a:ext cx="5461000" cy="1397000"/>
          </a:xfrm>
          <a:prstGeom prst="rect">
            <a:avLst/>
          </a:prstGeom>
        </p:spPr>
        <p:txBody>
          <a:bodyPr anchor="t" rtlCol="false" lIns="0" tIns="97814" rIns="0" bIns="0"/>
          <a:lstStyle/>
          <a:p>
            <a:pPr algn="ctr" lvl="0">
              <a:lnSpc>
                <a:spcPct val="99600"/>
              </a:lnSpc>
            </a:pPr>
            <a:r>
              <a:rPr lang="en-US" sz="770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70</a:t>
            </a:r>
            <a:r>
              <a:rPr lang="en-US" sz="5134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億円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33800" y="9982200"/>
            <a:ext cx="39370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527" b="fals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前年同期比 </a:t>
            </a:r>
            <a:r>
              <a:rPr lang="en-US" sz="2632" b="fals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+25%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156700" y="3530600"/>
            <a:ext cx="6057900" cy="3644900"/>
          </a:xfrm>
          <a:prstGeom prst="rect">
            <a:avLst/>
          </a:prstGeom>
          <a:effectLst>
            <a:outerShdw dir="2700000" dist="0" blurRad="364490">
              <a:srgbClr val="000000">
                <a:alpha val="12000"/>
              </a:srgbClr>
            </a:outerShdw>
          </a:effectLst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156700" y="7416800"/>
            <a:ext cx="6057900" cy="3644900"/>
          </a:xfrm>
          <a:prstGeom prst="rect">
            <a:avLst/>
          </a:prstGeom>
          <a:effectLst>
            <a:outerShdw dir="2700000" dist="0" blurRad="364490">
              <a:srgbClr val="000000">
                <a:alpha val="12000"/>
              </a:srgbClr>
            </a:outerShdw>
          </a:effectLst>
        </p:spPr>
      </p:pic>
      <p:sp>
        <p:nvSpPr>
          <p:cNvPr name="TextBox 18" id="18"/>
          <p:cNvSpPr txBox="true"/>
          <p:nvPr/>
        </p:nvSpPr>
        <p:spPr>
          <a:xfrm rot="0">
            <a:off x="10210800" y="4152900"/>
            <a:ext cx="3949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071" b="tru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営業利益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61500" y="4660900"/>
            <a:ext cx="5461000" cy="1397000"/>
          </a:xfrm>
          <a:prstGeom prst="rect">
            <a:avLst/>
          </a:prstGeom>
        </p:spPr>
        <p:txBody>
          <a:bodyPr anchor="t" rtlCol="false" lIns="0" tIns="97814" rIns="0" bIns="0"/>
          <a:lstStyle/>
          <a:p>
            <a:pPr algn="ctr" lvl="0">
              <a:lnSpc>
                <a:spcPct val="99600"/>
              </a:lnSpc>
            </a:pPr>
            <a:r>
              <a:rPr lang="en-US" sz="770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100</a:t>
            </a:r>
            <a:r>
              <a:rPr lang="en-US" sz="5134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億円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23500" y="6070600"/>
            <a:ext cx="3937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527" b="tru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進捗率 55%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99700" y="8077200"/>
            <a:ext cx="3949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071" b="tru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営業利益率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61500" y="8572500"/>
            <a:ext cx="5461000" cy="1397000"/>
          </a:xfrm>
          <a:prstGeom prst="rect">
            <a:avLst/>
          </a:prstGeom>
        </p:spPr>
        <p:txBody>
          <a:bodyPr anchor="t" rtlCol="false" lIns="0" tIns="97814" rIns="0" bIns="0"/>
          <a:lstStyle/>
          <a:p>
            <a:pPr algn="ctr" lvl="0">
              <a:lnSpc>
                <a:spcPct val="99600"/>
              </a:lnSpc>
            </a:pPr>
            <a:r>
              <a:rPr lang="en-US" sz="770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11.3</a:t>
            </a:r>
            <a:r>
              <a:rPr lang="en-US" sz="5134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12400" y="9994900"/>
            <a:ext cx="3937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527" b="tru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進捗率 55%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22600" y="3530600"/>
            <a:ext cx="6057900" cy="3644900"/>
          </a:xfrm>
          <a:prstGeom prst="rect">
            <a:avLst/>
          </a:prstGeom>
          <a:effectLst>
            <a:outerShdw dir="2700000" dist="0" blurRad="364490">
              <a:srgbClr val="000000">
                <a:alpha val="12000"/>
              </a:srgbClr>
            </a:outerShdw>
          </a:effectLst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22600" y="7416800"/>
            <a:ext cx="6057900" cy="3644900"/>
          </a:xfrm>
          <a:prstGeom prst="rect">
            <a:avLst/>
          </a:prstGeom>
          <a:effectLst>
            <a:outerShdw dir="2700000" dist="0" blurRad="364490">
              <a:srgbClr val="000000">
                <a:alpha val="12000"/>
              </a:srgbClr>
            </a:outerShdw>
          </a:effectLst>
        </p:spPr>
      </p:pic>
      <p:sp>
        <p:nvSpPr>
          <p:cNvPr name="TextBox 26" id="26"/>
          <p:cNvSpPr txBox="true"/>
          <p:nvPr/>
        </p:nvSpPr>
        <p:spPr>
          <a:xfrm rot="0">
            <a:off x="16865600" y="4140200"/>
            <a:ext cx="3949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071" b="tru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経常利益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027400" y="4648200"/>
            <a:ext cx="5461000" cy="1397000"/>
          </a:xfrm>
          <a:prstGeom prst="rect">
            <a:avLst/>
          </a:prstGeom>
        </p:spPr>
        <p:txBody>
          <a:bodyPr anchor="t" rtlCol="false" lIns="0" tIns="97814" rIns="0" bIns="0"/>
          <a:lstStyle/>
          <a:p>
            <a:pPr algn="ctr" lvl="0">
              <a:lnSpc>
                <a:spcPct val="99600"/>
              </a:lnSpc>
            </a:pPr>
            <a:r>
              <a:rPr lang="en-US" sz="770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110</a:t>
            </a:r>
            <a:r>
              <a:rPr lang="en-US" sz="5134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億円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865600" y="6057900"/>
            <a:ext cx="39370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527" b="tru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前年同期比 </a:t>
            </a:r>
            <a:r>
              <a:rPr lang="en-US" sz="2632" b="tru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+25%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865600" y="8077200"/>
            <a:ext cx="3949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071" b="tru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EBITDA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027400" y="8572500"/>
            <a:ext cx="5461000" cy="1397000"/>
          </a:xfrm>
          <a:prstGeom prst="rect">
            <a:avLst/>
          </a:prstGeom>
        </p:spPr>
        <p:txBody>
          <a:bodyPr anchor="t" rtlCol="false" lIns="0" tIns="97814" rIns="0" bIns="0"/>
          <a:lstStyle/>
          <a:p>
            <a:pPr algn="ctr" lvl="0">
              <a:lnSpc>
                <a:spcPct val="99600"/>
              </a:lnSpc>
            </a:pPr>
            <a:r>
              <a:rPr lang="en-US" sz="770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250</a:t>
            </a:r>
            <a:r>
              <a:rPr lang="en-US" sz="5134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億円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878300" y="9994900"/>
            <a:ext cx="3937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527" b="tru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進捗率55%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679700" y="11468100"/>
            <a:ext cx="96520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133" b="fals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※進捗率は通期業績予想に対する第2四半期終了時点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522700" y="3429000"/>
            <a:ext cx="5880100" cy="7912100"/>
          </a:xfrm>
          <a:prstGeom prst="rect">
            <a:avLst/>
          </a:prstGeom>
          <a:effectLst>
            <a:outerShdw dir="2700000" dist="0" blurRad="588010">
              <a:srgbClr val="000000">
                <a:alpha val="12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62200" y="3429000"/>
            <a:ext cx="5880100" cy="7912100"/>
          </a:xfrm>
          <a:prstGeom prst="rect">
            <a:avLst/>
          </a:prstGeom>
          <a:effectLst>
            <a:outerShdw dir="2700000" dist="0" blurRad="588010">
              <a:srgbClr val="000000">
                <a:alpha val="12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ベン図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共通部分と差集合が一目で把握しやすいページです。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10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375900" y="3175000"/>
            <a:ext cx="3924300" cy="9042400"/>
          </a:xfrm>
          <a:prstGeom prst="rect">
            <a:avLst/>
          </a:prstGeom>
          <a:effectLst>
            <a:outerShdw dir="2700000" dist="0" blurRad="156972">
              <a:srgbClr val="000000">
                <a:alpha val="15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56700" y="4749800"/>
            <a:ext cx="6362700" cy="17272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9969500" y="5156200"/>
            <a:ext cx="47244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4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AとBのグループが共有する</a:t>
            </a:r>
          </a:p>
          <a:p>
            <a:pPr algn="ctr" lvl="0">
              <a:lnSpc>
                <a:spcPct val="120350"/>
              </a:lnSpc>
            </a:pPr>
            <a:r>
              <a:rPr lang="en-US" sz="24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特性を並べてください。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56700" y="6832600"/>
            <a:ext cx="6362700" cy="17272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969500" y="7226300"/>
            <a:ext cx="47244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4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グループ間の共通点と違いを</a:t>
            </a:r>
          </a:p>
          <a:p>
            <a:pPr algn="ctr" lvl="0">
              <a:lnSpc>
                <a:spcPct val="120350"/>
              </a:lnSpc>
            </a:pPr>
            <a:r>
              <a:rPr lang="en-US" sz="24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要約してください。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56700" y="8915400"/>
            <a:ext cx="6362700" cy="17272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9969500" y="9309100"/>
            <a:ext cx="47244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4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該当するバン図の内容を簡単に紹介してください。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 rot="0">
            <a:off x="16687800" y="5168900"/>
            <a:ext cx="5549900" cy="635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7792700" y="3987800"/>
            <a:ext cx="3340100" cy="838200"/>
          </a:xfrm>
          <a:prstGeom prst="rect">
            <a:avLst/>
          </a:prstGeom>
        </p:spPr>
        <p:txBody>
          <a:bodyPr anchor="t" rtlCol="false" lIns="0" tIns="57573" rIns="0" bIns="0"/>
          <a:lstStyle/>
          <a:p>
            <a:pPr algn="ctr" lvl="0">
              <a:lnSpc>
                <a:spcPct val="99600"/>
              </a:lnSpc>
            </a:pPr>
            <a:r>
              <a:rPr lang="en-US" sz="4533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Bの特性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79900" y="5918200"/>
            <a:ext cx="4965700" cy="448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Bグループの固有の特徴を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説明してください。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Bグループにのみ該当する属性を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並べてください。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BグループがAグループと違う点を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強調してください。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Bグループの固有の特徴を</a:t>
            </a:r>
          </a:p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説明してください。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 rot="0">
            <a:off x="2527300" y="5168900"/>
            <a:ext cx="5549900" cy="635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3644900" y="3987800"/>
            <a:ext cx="3340100" cy="838200"/>
          </a:xfrm>
          <a:prstGeom prst="rect">
            <a:avLst/>
          </a:prstGeom>
        </p:spPr>
        <p:txBody>
          <a:bodyPr anchor="t" rtlCol="false" lIns="0" tIns="57573" rIns="0" bIns="0"/>
          <a:lstStyle/>
          <a:p>
            <a:pPr algn="ctr" lvl="0">
              <a:lnSpc>
                <a:spcPct val="99600"/>
              </a:lnSpc>
            </a:pPr>
            <a:r>
              <a:rPr lang="en-US" sz="4533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Aの特性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32100" y="5918200"/>
            <a:ext cx="4965700" cy="448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Aグループの固有の特徴を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説明してください。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Aグループにのみ該当する属性を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並べてください。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AグループがBグループと違う点を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強調してください。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Aグループの固有の特徴を</a:t>
            </a:r>
          </a:p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説明してください。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892800"/>
            <a:ext cx="23317200" cy="1016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時間の経過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時間の経過に沿って起きた主な出来事と変化を示すページです。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11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27300" y="3086100"/>
            <a:ext cx="4292600" cy="2400300"/>
          </a:xfrm>
          <a:prstGeom prst="rect">
            <a:avLst/>
          </a:prstGeom>
          <a:effectLst>
            <a:outerShdw dir="2700000" dist="0" blurRad="240030">
              <a:srgbClr val="000000">
                <a:alpha val="12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-5400000">
            <a:off x="18669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11400" y="6413500"/>
            <a:ext cx="4508500" cy="5803900"/>
          </a:xfrm>
          <a:prstGeom prst="rect">
            <a:avLst/>
          </a:prstGeom>
          <a:effectLst>
            <a:outerShdw dir="2700000" dist="0" blurRad="293053">
              <a:srgbClr val="000000">
                <a:alpha val="12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2819400" y="8458200"/>
            <a:ext cx="37719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当該年度に発生した主な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出来事を説明してください。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19400" y="9448800"/>
            <a:ext cx="37592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当該年度の主な出来事について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記入してみましょう。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19400" y="10439400"/>
            <a:ext cx="37719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時間の経過を自然に 繋げて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タイムラインを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完成させてください。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09900" y="7112000"/>
            <a:ext cx="29337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20XX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 rot="0">
            <a:off x="2540000" y="8115300"/>
            <a:ext cx="4229100" cy="63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670800" y="3086100"/>
            <a:ext cx="4292600" cy="2400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-5400000">
            <a:off x="70104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54900" y="6413500"/>
            <a:ext cx="4508500" cy="5803900"/>
          </a:xfrm>
          <a:prstGeom prst="rect">
            <a:avLst/>
          </a:prstGeom>
          <a:effectLst>
            <a:outerShdw dir="2700000" dist="0" blurRad="293053">
              <a:srgbClr val="000000">
                <a:alpha val="12000"/>
              </a:srgbClr>
            </a:outerShdw>
          </a:effectLst>
        </p:spPr>
      </p:pic>
      <p:sp>
        <p:nvSpPr>
          <p:cNvPr name="TextBox 20" id="20"/>
          <p:cNvSpPr txBox="true"/>
          <p:nvPr/>
        </p:nvSpPr>
        <p:spPr>
          <a:xfrm rot="0">
            <a:off x="7975600" y="8458200"/>
            <a:ext cx="37719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当該年度に発生した主な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出来事を説明してください。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975600" y="9448800"/>
            <a:ext cx="37592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当該年度の主な出来事について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記入してみましょう。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75600" y="10439400"/>
            <a:ext cx="37719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時間の経過を自然に 繋げて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タイムラインを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完成させてください。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53400" y="7112000"/>
            <a:ext cx="29337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20XX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 rot="0">
            <a:off x="7683500" y="8115300"/>
            <a:ext cx="4229100" cy="63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814300" y="3086100"/>
            <a:ext cx="4292600" cy="2400300"/>
          </a:xfrm>
          <a:prstGeom prst="rect">
            <a:avLst/>
          </a:prstGeom>
          <a:effectLst>
            <a:outerShdw dir="2700000" dist="0" blurRad="240030">
              <a:srgbClr val="000000">
                <a:alpha val="12000"/>
              </a:srgbClr>
            </a:outerShdw>
          </a:effectLst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-5400000">
            <a:off x="121539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598400" y="6413500"/>
            <a:ext cx="4508500" cy="5803900"/>
          </a:xfrm>
          <a:prstGeom prst="rect">
            <a:avLst/>
          </a:prstGeom>
          <a:effectLst>
            <a:outerShdw dir="2700000" dist="0" blurRad="293053">
              <a:srgbClr val="000000">
                <a:alpha val="12000"/>
              </a:srgbClr>
            </a:outerShdw>
          </a:effectLst>
        </p:spPr>
      </p:pic>
      <p:sp>
        <p:nvSpPr>
          <p:cNvPr name="TextBox 28" id="28"/>
          <p:cNvSpPr txBox="true"/>
          <p:nvPr/>
        </p:nvSpPr>
        <p:spPr>
          <a:xfrm rot="0">
            <a:off x="13119100" y="8458200"/>
            <a:ext cx="37719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当該年度に発生した主な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出来事を説明してください。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19100" y="9448800"/>
            <a:ext cx="37592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当該年度の主な出来事について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記入してみましょう。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19100" y="10439400"/>
            <a:ext cx="37719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時間の経過を自然に 繋げて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タイムラインを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完成させてください。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96900" y="7112000"/>
            <a:ext cx="29337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20XX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 rot="0">
            <a:off x="12827000" y="8115300"/>
            <a:ext cx="4229100" cy="635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970500" y="3086100"/>
            <a:ext cx="4292600" cy="2400300"/>
          </a:xfrm>
          <a:prstGeom prst="rect">
            <a:avLst/>
          </a:prstGeom>
          <a:effectLst>
            <a:outerShdw dir="2700000" dist="0" blurRad="240030">
              <a:srgbClr val="000000">
                <a:alpha val="12000"/>
              </a:srgbClr>
            </a:outerShdw>
          </a:effectLst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-5400000">
            <a:off x="172974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670800" y="3073400"/>
            <a:ext cx="4292600" cy="2425700"/>
          </a:xfrm>
          <a:prstGeom prst="rect">
            <a:avLst/>
          </a:prstGeom>
          <a:effectLst>
            <a:outerShdw dir="2700000" dist="0" blurRad="242570">
              <a:srgbClr val="000000">
                <a:alpha val="12000"/>
              </a:srgbClr>
            </a:outerShdw>
          </a:effectLst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754600" y="6413500"/>
            <a:ext cx="4508500" cy="5803900"/>
          </a:xfrm>
          <a:prstGeom prst="rect">
            <a:avLst/>
          </a:prstGeom>
          <a:effectLst>
            <a:outerShdw dir="2700000" dist="0" blurRad="293053">
              <a:srgbClr val="000000">
                <a:alpha val="12000"/>
              </a:srgbClr>
            </a:outerShdw>
          </a:effectLst>
        </p:spPr>
      </p:pic>
      <p:sp>
        <p:nvSpPr>
          <p:cNvPr name="TextBox 37" id="37"/>
          <p:cNvSpPr txBox="true"/>
          <p:nvPr/>
        </p:nvSpPr>
        <p:spPr>
          <a:xfrm rot="0">
            <a:off x="18262600" y="8458200"/>
            <a:ext cx="37719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当該年度に発生した主な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出来事を説明してください。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262600" y="9448800"/>
            <a:ext cx="37592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当該年度の主な出来事について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記入してみましょう。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8262600" y="10439400"/>
            <a:ext cx="37719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時間の経過を自然に 繋げて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タイムラインを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完成させてください。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8440400" y="7112000"/>
            <a:ext cx="29337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20XX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 rot="0">
            <a:off x="17970500" y="8115300"/>
            <a:ext cx="42291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564100" y="3860800"/>
            <a:ext cx="4699000" cy="3543300"/>
          </a:xfrm>
          <a:prstGeom prst="rect">
            <a:avLst/>
          </a:prstGeom>
          <a:effectLst>
            <a:outerShdw dir="2700000" dist="0" blurRad="354330">
              <a:srgbClr val="000000">
                <a:alpha val="12000"/>
              </a:srgbClr>
            </a:outerShdw>
          </a:effectLst>
        </p:spPr>
      </p:pic>
      <p:sp>
        <p:nvSpPr>
          <p:cNvPr name="TextBox 4" id="4"/>
          <p:cNvSpPr txBox="true"/>
          <p:nvPr/>
        </p:nvSpPr>
        <p:spPr>
          <a:xfrm rot="0">
            <a:off x="179451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当該キーワードに関する説明を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追加してください。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ボタン型リストや番号を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活用して内容を整理してみましょう。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697700" y="4381500"/>
            <a:ext cx="419100" cy="419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8595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/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キーワード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6723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2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230100" y="7734300"/>
            <a:ext cx="4000500" cy="4000500"/>
          </a:xfrm>
          <a:prstGeom prst="rect">
            <a:avLst/>
          </a:prstGeom>
          <a:effectLst>
            <a:outerShdw dir="2700000" dist="0" blurRad="400050">
              <a:srgbClr val="000000">
                <a:alpha val="12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53400" y="3644900"/>
            <a:ext cx="4000500" cy="4000500"/>
          </a:xfrm>
          <a:prstGeom prst="rect">
            <a:avLst/>
          </a:prstGeom>
          <a:effectLst>
            <a:outerShdw dir="2700000" dist="0" blurRad="400050">
              <a:srgbClr val="000000">
                <a:alpha val="12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230100" y="3657600"/>
            <a:ext cx="4000500" cy="4000500"/>
          </a:xfrm>
          <a:prstGeom prst="rect">
            <a:avLst/>
          </a:prstGeom>
          <a:effectLst>
            <a:outerShdw dir="2700000" dist="0" blurRad="400050">
              <a:srgbClr val="000000">
                <a:alpha val="12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8153400" y="7721600"/>
            <a:ext cx="4000500" cy="4000500"/>
          </a:xfrm>
          <a:prstGeom prst="rect">
            <a:avLst/>
          </a:prstGeom>
          <a:effectLst>
            <a:outerShdw dir="13500000" dist="0" blurRad="400050">
              <a:srgbClr val="000000">
                <a:alpha val="12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538200" y="5092700"/>
            <a:ext cx="1257300" cy="1257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550400" y="8991600"/>
            <a:ext cx="1333500" cy="1333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4段レイアウト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4つの情報を並べて整理するのに適した ページです。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12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06600" y="3860800"/>
            <a:ext cx="4699000" cy="3543300"/>
          </a:xfrm>
          <a:prstGeom prst="rect">
            <a:avLst/>
          </a:prstGeom>
          <a:effectLst>
            <a:outerShdw dir="2700000" dist="0" blurRad="354330">
              <a:srgbClr val="000000">
                <a:alpha val="12000"/>
              </a:srgbClr>
            </a:outerShdw>
          </a:effectLst>
        </p:spPr>
      </p:pic>
      <p:sp>
        <p:nvSpPr>
          <p:cNvPr name="TextBox 20" id="20"/>
          <p:cNvSpPr txBox="true"/>
          <p:nvPr/>
        </p:nvSpPr>
        <p:spPr>
          <a:xfrm rot="0">
            <a:off x="24003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当該キーワードに関する説明を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追加してください。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ボタン型リストや番号を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活用して内容を整理してみましょう。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140200" y="4381500"/>
            <a:ext cx="419100" cy="4191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33147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/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キーワード 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148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1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06600" y="7962900"/>
            <a:ext cx="4699000" cy="3543300"/>
          </a:xfrm>
          <a:prstGeom prst="rect">
            <a:avLst/>
          </a:prstGeom>
          <a:effectLst>
            <a:outerShdw dir="2700000" dist="0" blurRad="354330">
              <a:srgbClr val="000000">
                <a:alpha val="12000"/>
              </a:srgbClr>
            </a:outerShdw>
          </a:effectLst>
        </p:spPr>
      </p:pic>
      <p:sp>
        <p:nvSpPr>
          <p:cNvPr name="TextBox 25" id="25"/>
          <p:cNvSpPr txBox="true"/>
          <p:nvPr/>
        </p:nvSpPr>
        <p:spPr>
          <a:xfrm rot="0">
            <a:off x="24003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当該キーワードに関する説明を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追加してください。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ボタン型リストや番号を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活用して内容を整理してみましょう。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140200" y="8483600"/>
            <a:ext cx="419100" cy="4191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33147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/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キーワード 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148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3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564100" y="7962900"/>
            <a:ext cx="4699000" cy="3543300"/>
          </a:xfrm>
          <a:prstGeom prst="rect">
            <a:avLst/>
          </a:prstGeom>
          <a:effectLst>
            <a:outerShdw dir="2700000" dist="0" blurRad="354330">
              <a:srgbClr val="000000">
                <a:alpha val="12000"/>
              </a:srgbClr>
            </a:outerShdw>
          </a:effectLst>
        </p:spPr>
      </p:pic>
      <p:sp>
        <p:nvSpPr>
          <p:cNvPr name="TextBox 30" id="30"/>
          <p:cNvSpPr txBox="true"/>
          <p:nvPr/>
        </p:nvSpPr>
        <p:spPr>
          <a:xfrm rot="0">
            <a:off x="179451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当該キーワードに関する説明を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追加してください。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ボタン型リストや番号を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活用して内容を整理してみましょう。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697700" y="8483600"/>
            <a:ext cx="419100" cy="4191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188595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/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キーワード 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6723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9A4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1861800" y="-4203700"/>
            <a:ext cx="19380200" cy="1151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20980400" y="8991600"/>
            <a:ext cx="4330700" cy="1892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146800" y="4533900"/>
            <a:ext cx="10947400" cy="4470400"/>
          </a:xfrm>
          <a:prstGeom prst="rect">
            <a:avLst/>
          </a:prstGeom>
        </p:spPr>
        <p:txBody>
          <a:bodyPr anchor="t" rtlCol="false" lIns="0" tIns="317416" rIns="0" bIns="0"/>
          <a:lstStyle/>
          <a:p>
            <a:pPr algn="ctr" lvl="0">
              <a:lnSpc>
                <a:spcPct val="99600"/>
              </a:lnSpc>
            </a:pPr>
            <a:r>
              <a:rPr lang="en-US" sz="2499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QnA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89600" y="8636000"/>
            <a:ext cx="121412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3200" b="false" i="false" u="none" strike="noStrike">
                <a:solidFill>
                  <a:srgbClr val="FFFFFF">
                    <a:alpha val="7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いままでけいしょうしてくださってありがとうございます。</a:t>
            </a:r>
          </a:p>
          <a:p>
            <a:pPr algn="ctr" lvl="0">
              <a:lnSpc>
                <a:spcPct val="120350"/>
              </a:lnSpc>
            </a:pPr>
            <a:r>
              <a:rPr lang="en-US" sz="3200" b="false" i="false" u="none" strike="noStrike">
                <a:solidFill>
                  <a:srgbClr val="FFFFFF">
                    <a:alpha val="7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10分間自由に質問にお答えします。 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566900" y="4889500"/>
            <a:ext cx="1638300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9A4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1300" y="3835400"/>
            <a:ext cx="10363200" cy="1689100"/>
          </a:xfrm>
          <a:prstGeom prst="rect">
            <a:avLst/>
          </a:prstGeom>
        </p:spPr>
        <p:txBody>
          <a:bodyPr anchor="t" rtlCol="false" lIns="0" tIns="59266" rIns="0" bIns="0"/>
          <a:lstStyle/>
          <a:p>
            <a:pPr algn="l" lvl="0">
              <a:lnSpc>
                <a:spcPct val="107899"/>
              </a:lnSpc>
            </a:pPr>
            <a:r>
              <a:rPr lang="en-US" sz="93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Thank you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11300" y="11214100"/>
            <a:ext cx="3187700" cy="5715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727200" y="11315700"/>
            <a:ext cx="29210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ミリカンパニーOO部部長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11300" y="3124200"/>
            <a:ext cx="685800" cy="558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273300" y="31369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2100" y="11887200"/>
            <a:ext cx="2476500" cy="4572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: 小林麻里子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0" y="11214100"/>
            <a:ext cx="3187700" cy="5715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11315700"/>
            <a:ext cx="14859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E-MAIL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84800" y="11887200"/>
            <a:ext cx="3187700" cy="4572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: miridih@miridih.com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118600" y="11214100"/>
            <a:ext cx="3187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11861800" y="-2844800"/>
            <a:ext cx="19380200" cy="1151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20980400" y="10350500"/>
            <a:ext cx="4330700" cy="1892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321800" y="11315700"/>
            <a:ext cx="29210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TEL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69400" y="11887200"/>
            <a:ext cx="3187700" cy="4572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: 000-0000-0000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3" name="Picture 2" descr="processed.png"/>
          <p:cNvPicPr>
            <a:picLocks noChangeAspect="1"/>
          </p:cNvPicPr>
          <p:nvPr/>
        </p:nvPicPr>
        <p:blipFill>
          <a:blip r:embed="rId8"/>
          <a:srcRect t="0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05800" y="-2438400"/>
            <a:ext cx="19380200" cy="115189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97280" y="3286354"/>
            <a:ext cx="13313664" cy="7143293"/>
          </a:xfrm>
          <a:prstGeom prst="roundRect">
            <a:avLst/>
          </a:prstGeom>
          <a:solidFill>
            <a:srgbClr val="FFFFFF">
              <a:alpha val="9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61594" y="3750668"/>
            <a:ext cx="12385036" cy="14293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980" b="1">
                <a:solidFill>
                  <a:srgbClr val="171717"/>
                </a:solidFill>
                <a:latin typeface="Pretendard JP Bold"/>
              </a:rPr>
              <a:t>レシートキャンペーンを、
公開準備から抽選までひとつに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1594" y="5322687"/>
            <a:ext cx="12385036" cy="4642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71717"/>
                </a:solidFill>
                <a:latin typeface="Pretendard JP Medium"/>
              </a:rPr>
              <a:t>Aha! レシート Lite
必要十分な機能を、導入しやすい価格で。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7"/>
          <a:srcRect t="17"/>
          <a:stretch>
            <a:fillRect/>
          </a:stretch>
        </p:blipFill>
        <p:spPr>
          <a:xfrm rot="0">
            <a:off x="12310887" y="2695557"/>
            <a:ext cx="10088283" cy="9739186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84860" y="2695558"/>
            <a:ext cx="10088283" cy="22400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71717"/>
                </a:solidFill>
                <a:latin typeface="Pretendard JP SemiBold"/>
              </a:rPr>
              <a:t>必要な機能を標準化するから、
導入しやすい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4860" y="5078217"/>
            <a:ext cx="10088283" cy="1022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71717"/>
                </a:solidFill>
                <a:latin typeface="Pretendard JP Medium"/>
              </a:rPr>
              <a:t>キャンペーン運用に必要な機能を、使いやすい形で標準搭載。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860" y="6279140"/>
            <a:ext cx="10088283" cy="6155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71717"/>
                </a:solidFill>
                <a:latin typeface="Pretendard JP Medium"/>
              </a:rPr>
              <a:t>過剰な個別開発を抑え、
導入コストと開始までの時間を減らします。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1" y="2031522"/>
            <a:ext cx="22189468" cy="940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71717"/>
                </a:solidFill>
                <a:latin typeface="Pretendard JP SemiBold"/>
              </a:rPr>
              <a:t>Googleフォーム・Lite・フル版の違い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1" y="3102999"/>
            <a:ext cx="22189468" cy="498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71717"/>
                </a:solidFill>
                <a:latin typeface="Pretendard JP Medium"/>
              </a:rPr>
              <a:t>○：標準対応　△：別作業が必要　×：標準では非対応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281" y="3779333"/>
          <a:ext cx="22189468" cy="9319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732"/>
                <a:gridCol w="5660578"/>
                <a:gridCol w="5660578"/>
                <a:gridCol w="5660580"/>
              </a:tblGrid>
              <a:tr h="841248"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Pretendard JP Bold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 JP Bold"/>
                        </a:rPr>
                        <a:t>Googleフォーム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 JP Bold"/>
                        </a:rPr>
                        <a:t>Lite</a:t>
                      </a:r>
                    </a:p>
                  </a:txBody>
                  <a:tcPr marL="91440" marR="91440" marT="45720" marB="45720">
                    <a:solidFill>
                      <a:srgbClr val="FF9A42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 JP Bold"/>
                        </a:rPr>
                        <a:t>フル版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1211171">
                <a:tc>
                  <a:txBody>
                    <a:bodyPr wrap="square" tIns="54864" bIns="54864"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  <a:latin typeface="Pretendard JP Medium"/>
                        </a:rPr>
                        <a:t>フォーム項目</a:t>
                      </a:r>
                    </a:p>
                  </a:txBody>
                  <a:tcPr marL="91440" marR="91440" marT="45720" marB="45720">
                    <a:solidFill>
                      <a:srgbClr val="EFEFE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FF4E8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7F7F5"/>
                    </a:solidFill>
                  </a:tcPr>
                </a:tc>
              </a:tr>
              <a:tr h="1211171">
                <a:tc>
                  <a:txBody>
                    <a:bodyPr wrap="square" tIns="54864" bIns="54864"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  <a:latin typeface="Pretendard JP Medium"/>
                        </a:rPr>
                        <a:t>レシート応募</a:t>
                      </a:r>
                    </a:p>
                  </a:txBody>
                  <a:tcPr marL="91440" marR="91440" marT="45720" marB="45720">
                    <a:solidFill>
                      <a:srgbClr val="EFEFE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FF4E8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7F7F5"/>
                    </a:solidFill>
                  </a:tcPr>
                </a:tc>
              </a:tr>
              <a:tr h="1211171">
                <a:tc>
                  <a:txBody>
                    <a:bodyPr wrap="square" tIns="54864" bIns="54864"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  <a:latin typeface="Pretendard JP Medium"/>
                        </a:rPr>
                        <a:t>デザイン変更</a:t>
                      </a:r>
                    </a:p>
                  </a:txBody>
                  <a:tcPr marL="91440" marR="91440" marT="45720" marB="45720">
                    <a:solidFill>
                      <a:srgbClr val="EFEFE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×</a:t>
                      </a:r>
                    </a:p>
                  </a:txBody>
                  <a:tcPr marL="91440" marR="91440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FF4E8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7F7F5"/>
                    </a:solidFill>
                  </a:tcPr>
                </a:tc>
              </a:tr>
              <a:tr h="1211171">
                <a:tc>
                  <a:txBody>
                    <a:bodyPr wrap="square" tIns="54864" bIns="54864"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  <a:latin typeface="Pretendard JP Medium"/>
                        </a:rPr>
                        <a:t>応募検索</a:t>
                      </a:r>
                    </a:p>
                  </a:txBody>
                  <a:tcPr marL="91440" marR="91440" marT="45720" marB="45720">
                    <a:solidFill>
                      <a:srgbClr val="EFEFE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FF4E8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7F7F5"/>
                    </a:solidFill>
                  </a:tcPr>
                </a:tc>
              </a:tr>
              <a:tr h="1211171">
                <a:tc>
                  <a:txBody>
                    <a:bodyPr wrap="square" tIns="54864" bIns="54864"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  <a:latin typeface="Pretendard JP Medium"/>
                        </a:rPr>
                        <a:t>データ出力</a:t>
                      </a:r>
                    </a:p>
                  </a:txBody>
                  <a:tcPr marL="91440" marR="91440" marT="45720" marB="45720">
                    <a:solidFill>
                      <a:srgbClr val="EFEFE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FF4E8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7F7F5"/>
                    </a:solidFill>
                  </a:tcPr>
                </a:tc>
              </a:tr>
              <a:tr h="1211171">
                <a:tc>
                  <a:txBody>
                    <a:bodyPr wrap="square" tIns="54864" bIns="54864"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  <a:latin typeface="Pretendard JP Medium"/>
                        </a:rPr>
                        <a:t>抽選</a:t>
                      </a:r>
                    </a:p>
                  </a:txBody>
                  <a:tcPr marL="91440" marR="91440" marT="45720" marB="45720">
                    <a:solidFill>
                      <a:srgbClr val="EFEFE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FF4E8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7F7F5"/>
                    </a:solidFill>
                  </a:tcPr>
                </a:tc>
              </a:tr>
              <a:tr h="1211171">
                <a:tc>
                  <a:txBody>
                    <a:bodyPr wrap="square" tIns="54864" bIns="54864"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  <a:latin typeface="Pretendard JP Medium"/>
                        </a:rPr>
                        <a:t>OCR</a:t>
                      </a:r>
                    </a:p>
                  </a:txBody>
                  <a:tcPr marL="91440" marR="91440" marT="45720" marB="45720">
                    <a:solidFill>
                      <a:srgbClr val="EFEFE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×</a:t>
                      </a:r>
                    </a:p>
                  </a:txBody>
                  <a:tcPr marL="91440" marR="91440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×</a:t>
                      </a:r>
                    </a:p>
                  </a:txBody>
                  <a:tcPr marL="91440" marR="91440" marT="45720" marB="45720">
                    <a:solidFill>
                      <a:srgbClr val="FFF4E8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Pretendard JP Medium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name="Picture 2" id="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4200" y="5892800"/>
            <a:ext cx="23317200" cy="10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8669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2540000" y="8115300"/>
            <a:ext cx="4229100" cy="63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70104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7683500" y="8115300"/>
            <a:ext cx="4229100" cy="63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21539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12827000" y="8115300"/>
            <a:ext cx="4229100" cy="63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72974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17970500" y="8115300"/>
            <a:ext cx="4229100" cy="635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97281" y="2031522"/>
            <a:ext cx="22189468" cy="940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71717"/>
                </a:solidFill>
                <a:latin typeface="Pretendard JP SemiBold"/>
              </a:rPr>
              <a:t>20年間の知見を、導入しやすい標準機能へ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1" y="3102999"/>
            <a:ext cx="22189468" cy="498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71717"/>
                </a:solidFill>
                <a:latin typeface="Pretendard JP Medium"/>
              </a:rPr>
              <a:t>毎回ゼロから開発せず、よく使う運用をLiteに集約します。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7281" y="6761556"/>
            <a:ext cx="5369059" cy="33550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316737" y="6981012"/>
            <a:ext cx="369050" cy="369050"/>
          </a:xfrm>
          <a:prstGeom prst="roundRect">
            <a:avLst/>
          </a:prstGeom>
          <a:solidFill>
            <a:srgbClr val="FF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JP SemiBold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16737" y="7481736"/>
            <a:ext cx="4930147" cy="5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1717"/>
                </a:solidFill>
                <a:latin typeface="Pretendard JP SemiBold"/>
              </a:rPr>
              <a:t>20年の知見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16737" y="8117291"/>
            <a:ext cx="4930147" cy="1779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1717"/>
                </a:solidFill>
                <a:latin typeface="Pretendard JP Medium"/>
              </a:rPr>
              <a:t>実例を蓄積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316737" y="9951965"/>
            <a:ext cx="4930147" cy="0"/>
          </a:xfrm>
          <a:prstGeom prst="line">
            <a:avLst/>
          </a:prstGeom>
          <a:ln w="1905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704084" y="6761556"/>
            <a:ext cx="5369059" cy="33550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923540" y="6981012"/>
            <a:ext cx="369050" cy="369050"/>
          </a:xfrm>
          <a:prstGeom prst="roundRect">
            <a:avLst/>
          </a:prstGeom>
          <a:solidFill>
            <a:srgbClr val="FF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JP SemiBold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23540" y="7481736"/>
            <a:ext cx="4930147" cy="5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1717"/>
                </a:solidFill>
                <a:latin typeface="Pretendard JP SemiBold"/>
              </a:rPr>
              <a:t>機能を抽出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23540" y="8117291"/>
            <a:ext cx="4930147" cy="1779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1717"/>
                </a:solidFill>
                <a:latin typeface="Pretendard JP Medium"/>
              </a:rPr>
              <a:t>要件を整理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923540" y="9951965"/>
            <a:ext cx="4930147" cy="0"/>
          </a:xfrm>
          <a:prstGeom prst="line">
            <a:avLst/>
          </a:prstGeom>
          <a:ln w="1905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2310887" y="6761556"/>
            <a:ext cx="5369059" cy="33550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2530343" y="6981012"/>
            <a:ext cx="369050" cy="369050"/>
          </a:xfrm>
          <a:prstGeom prst="roundRect">
            <a:avLst/>
          </a:prstGeom>
          <a:solidFill>
            <a:srgbClr val="FF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JP SemiBold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530343" y="7481736"/>
            <a:ext cx="4930147" cy="5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1717"/>
                </a:solidFill>
                <a:latin typeface="Pretendard JP SemiBold"/>
              </a:rPr>
              <a:t>Liteに標準化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530343" y="8117291"/>
            <a:ext cx="4930147" cy="1779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1717"/>
                </a:solidFill>
                <a:latin typeface="Pretendard JP Medium"/>
              </a:rPr>
              <a:t>標準機能に集約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2530343" y="9951965"/>
            <a:ext cx="4930147" cy="0"/>
          </a:xfrm>
          <a:prstGeom prst="line">
            <a:avLst/>
          </a:prstGeom>
          <a:ln w="1905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7917690" y="6761556"/>
            <a:ext cx="5369059" cy="33550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8137146" y="6981012"/>
            <a:ext cx="369050" cy="369050"/>
          </a:xfrm>
          <a:prstGeom prst="roundRect">
            <a:avLst/>
          </a:prstGeom>
          <a:solidFill>
            <a:srgbClr val="FF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JP SemiBold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137146" y="7481736"/>
            <a:ext cx="4930147" cy="5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1717"/>
                </a:solidFill>
                <a:latin typeface="Pretendard JP SemiBold"/>
              </a:rPr>
              <a:t>導入しやすく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137146" y="8117291"/>
            <a:ext cx="4930147" cy="1779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1717"/>
                </a:solidFill>
                <a:latin typeface="Pretendard JP Medium"/>
              </a:rPr>
              <a:t>価格と時間を抑える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8137146" y="9951965"/>
            <a:ext cx="4930147" cy="0"/>
          </a:xfrm>
          <a:prstGeom prst="line">
            <a:avLst/>
          </a:prstGeom>
          <a:ln w="1905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512060" y="8439057"/>
            <a:ext cx="146304" cy="0"/>
          </a:xfrm>
          <a:prstGeom prst="line">
            <a:avLst/>
          </a:prstGeom>
          <a:ln w="2159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118863" y="8439057"/>
            <a:ext cx="146304" cy="0"/>
          </a:xfrm>
          <a:prstGeom prst="line">
            <a:avLst/>
          </a:prstGeom>
          <a:ln w="2159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7725666" y="8439057"/>
            <a:ext cx="146304" cy="0"/>
          </a:xfrm>
          <a:prstGeom prst="line">
            <a:avLst/>
          </a:prstGeom>
          <a:ln w="2159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A42"/>
        </a:solidFill>
      </p:bgPr>
    </p:bg>
    <p:spTree>
      <p:nvGrpSpPr>
        <p:cNvPr id="1" name=""/>
        <p:cNvGrpSpPr/>
        <p:nvPr/>
      </p:nvGrpSpPr>
      <p:grpSpPr/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1861800" y="-4203700"/>
            <a:ext cx="19380200" cy="11518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1" y="8940729"/>
            <a:ext cx="7187210" cy="14834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973" b="1">
                <a:solidFill>
                  <a:srgbClr val="171717"/>
                </a:solidFill>
                <a:latin typeface="Pretendard JP Bold"/>
              </a:rPr>
              <a:t>素材が揃えば、
最短即日で公開可能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1" y="10588734"/>
            <a:ext cx="6324745" cy="10491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71717"/>
                </a:solidFill>
                <a:latin typeface="Pretendard JP Medium"/>
              </a:rPr>
              <a:t>素材・規約・実施条件の確定が前提。
開始日は確認状況により異なります。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name="Picture 2" id="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4200" y="5892800"/>
            <a:ext cx="23317200" cy="10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8669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2540000" y="8115300"/>
            <a:ext cx="4229100" cy="63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70104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7683500" y="8115300"/>
            <a:ext cx="4229100" cy="63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21539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12827000" y="8115300"/>
            <a:ext cx="4229100" cy="63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72974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17970500" y="8115300"/>
            <a:ext cx="4229100" cy="635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97281" y="2031522"/>
            <a:ext cx="22189468" cy="940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71717"/>
                </a:solidFill>
                <a:latin typeface="Pretendard JP SemiBold"/>
              </a:rPr>
              <a:t>公開・受付・確認・抽選を、一つの管理画面で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1" y="3102999"/>
            <a:ext cx="22189468" cy="498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71717"/>
                </a:solidFill>
                <a:latin typeface="Pretendard JP Medium"/>
              </a:rPr>
              <a:t>準備から終了後まで、同じ流れの中で進められます。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7281" y="6761556"/>
            <a:ext cx="5369059" cy="33550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316737" y="6981012"/>
            <a:ext cx="369050" cy="369050"/>
          </a:xfrm>
          <a:prstGeom prst="roundRect">
            <a:avLst/>
          </a:prstGeom>
          <a:solidFill>
            <a:srgbClr val="FF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JP SemiBold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16737" y="7481736"/>
            <a:ext cx="4930147" cy="5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1717"/>
                </a:solidFill>
                <a:latin typeface="Pretendard JP SemiBold"/>
              </a:rPr>
              <a:t>公開する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16737" y="8117291"/>
            <a:ext cx="4930147" cy="1779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1717"/>
                </a:solidFill>
                <a:latin typeface="Pretendard JP Medium"/>
              </a:rPr>
              <a:t>LP・期間・規約を設定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316737" y="9951965"/>
            <a:ext cx="4930147" cy="0"/>
          </a:xfrm>
          <a:prstGeom prst="line">
            <a:avLst/>
          </a:prstGeom>
          <a:ln w="1905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704084" y="6761556"/>
            <a:ext cx="5369059" cy="33550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923540" y="6981012"/>
            <a:ext cx="369050" cy="369050"/>
          </a:xfrm>
          <a:prstGeom prst="roundRect">
            <a:avLst/>
          </a:prstGeom>
          <a:solidFill>
            <a:srgbClr val="FF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JP SemiBold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23540" y="7481736"/>
            <a:ext cx="4930147" cy="5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1717"/>
                </a:solidFill>
                <a:latin typeface="Pretendard JP SemiBold"/>
              </a:rPr>
              <a:t>受け付ける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23540" y="8117291"/>
            <a:ext cx="4930147" cy="1779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1717"/>
                </a:solidFill>
                <a:latin typeface="Pretendard JP Medium"/>
              </a:rPr>
              <a:t>フォームと画像を受付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923540" y="9951965"/>
            <a:ext cx="4930147" cy="0"/>
          </a:xfrm>
          <a:prstGeom prst="line">
            <a:avLst/>
          </a:prstGeom>
          <a:ln w="1905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2310887" y="6761556"/>
            <a:ext cx="5369059" cy="33550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2530343" y="6981012"/>
            <a:ext cx="369050" cy="369050"/>
          </a:xfrm>
          <a:prstGeom prst="roundRect">
            <a:avLst/>
          </a:prstGeom>
          <a:solidFill>
            <a:srgbClr val="FF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JP SemiBold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530343" y="7481736"/>
            <a:ext cx="4930147" cy="5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1717"/>
                </a:solidFill>
                <a:latin typeface="Pretendard JP SemiBold"/>
              </a:rPr>
              <a:t>確認する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530343" y="8117291"/>
            <a:ext cx="4930147" cy="1779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1717"/>
                </a:solidFill>
                <a:latin typeface="Pretendard JP Medium"/>
              </a:rPr>
              <a:t>応募状況と重複を確認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2530343" y="9951965"/>
            <a:ext cx="4930147" cy="0"/>
          </a:xfrm>
          <a:prstGeom prst="line">
            <a:avLst/>
          </a:prstGeom>
          <a:ln w="1905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7917690" y="6761556"/>
            <a:ext cx="5369059" cy="33550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8137146" y="6981012"/>
            <a:ext cx="369050" cy="369050"/>
          </a:xfrm>
          <a:prstGeom prst="roundRect">
            <a:avLst/>
          </a:prstGeom>
          <a:solidFill>
            <a:srgbClr val="FF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JP SemiBold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137146" y="7481736"/>
            <a:ext cx="4930147" cy="5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1717"/>
                </a:solidFill>
                <a:latin typeface="Pretendard JP SemiBold"/>
              </a:rPr>
              <a:t>抽選する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137146" y="8117291"/>
            <a:ext cx="4930147" cy="1779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1717"/>
                </a:solidFill>
                <a:latin typeface="Pretendard JP Medium"/>
              </a:rPr>
              <a:t>CSV出力と簡易抽選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8137146" y="9951965"/>
            <a:ext cx="4930147" cy="0"/>
          </a:xfrm>
          <a:prstGeom prst="line">
            <a:avLst/>
          </a:prstGeom>
          <a:ln w="1905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512060" y="8439057"/>
            <a:ext cx="146304" cy="0"/>
          </a:xfrm>
          <a:prstGeom prst="line">
            <a:avLst/>
          </a:prstGeom>
          <a:ln w="2159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118863" y="8439057"/>
            <a:ext cx="146304" cy="0"/>
          </a:xfrm>
          <a:prstGeom prst="line">
            <a:avLst/>
          </a:prstGeom>
          <a:ln w="2159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7725666" y="8439057"/>
            <a:ext cx="146304" cy="0"/>
          </a:xfrm>
          <a:prstGeom prst="line">
            <a:avLst/>
          </a:prstGeom>
          <a:ln w="2159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name="Picture 2" id="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/>
          <a:srcRect r="9"/>
          <a:stretch>
            <a:fillRect/>
          </a:stretch>
        </p:blipFill>
        <p:spPr>
          <a:xfrm rot="0">
            <a:off x="1984860" y="2695557"/>
            <a:ext cx="9281220" cy="9739186"/>
          </a:xfrm>
          <a:prstGeom prst="rect">
            <a:avLst/>
          </a:prstGeom>
          <a:effectLst>
            <a:outerShdw dir="2700000" dist="0" blurRad="400050">
              <a:srgbClr val="000000">
                <a:alpha val="12000"/>
              </a:srgbClr>
            </a:outerShdw>
          </a:effectLst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503825" y="2695558"/>
            <a:ext cx="10895346" cy="22400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71717"/>
                </a:solidFill>
                <a:latin typeface="Arial"/>
              </a:rPr>
              <a:t>公開後も、担当者が
主要設定を変更できる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03825" y="5078217"/>
            <a:ext cx="10895346" cy="1022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71717"/>
                </a:solidFill>
                <a:latin typeface="Pretendard JP Medium"/>
              </a:rPr>
              <a:t>管理画面から、運用に必要な4領域を更新。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825" y="6279140"/>
            <a:ext cx="10895346" cy="6155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71717"/>
                </a:solidFill>
                <a:latin typeface="Pretendard JP Medium"/>
              </a:rPr>
              <a:t>キャンペーン　商品・期間・規約
フォーム　　　質問・必須設定
ビジュアル　　配色・画像・OGP
メール・計測　自動返信・GA4・GTM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 rot="0">
            <a:off x="16687800" y="5168900"/>
            <a:ext cx="5549900" cy="63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 rot="0">
            <a:off x="2527300" y="5168900"/>
            <a:ext cx="5549900" cy="63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7281" y="2031522"/>
            <a:ext cx="22189468" cy="1881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71717"/>
                </a:solidFill>
                <a:latin typeface="Pretendard JP SemiBold"/>
              </a:rPr>
              <a:t>Liteから始め、
必要な要件だけ拡張できる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1" y="4043715"/>
            <a:ext cx="22189468" cy="498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71717"/>
                </a:solidFill>
                <a:latin typeface="Pretendard JP Medium"/>
              </a:rPr>
              <a:t>基本運用はLite。OCRや複雑な条件はフル版・個別対応へ。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1" y="7401244"/>
            <a:ext cx="10975862" cy="30163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16737" y="7620700"/>
            <a:ext cx="347472" cy="347472"/>
          </a:xfrm>
          <a:prstGeom prst="roundRect">
            <a:avLst/>
          </a:prstGeom>
          <a:solidFill>
            <a:srgbClr val="FF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JP Bold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7" y="8099845"/>
            <a:ext cx="10536950" cy="482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1717"/>
                </a:solidFill>
                <a:latin typeface="Pretendard JP Bold"/>
              </a:rPr>
              <a:t>Lite 標準範囲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7" y="8681215"/>
            <a:ext cx="10536950" cy="15169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1717"/>
                </a:solidFill>
                <a:latin typeface="Pretendard JP Medium"/>
              </a:rPr>
              <a:t>フォーム・画像受付
検索・CSV・簡易抽選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16737" y="10252994"/>
            <a:ext cx="10536950" cy="0"/>
          </a:xfrm>
          <a:prstGeom prst="line">
            <a:avLst/>
          </a:prstGeom>
          <a:ln w="1905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10887" y="7401244"/>
            <a:ext cx="10975862" cy="30163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2530343" y="7620700"/>
            <a:ext cx="347472" cy="347472"/>
          </a:xfrm>
          <a:prstGeom prst="roundRect">
            <a:avLst/>
          </a:prstGeom>
          <a:solidFill>
            <a:srgbClr val="FF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JP Bold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30343" y="8099845"/>
            <a:ext cx="10536950" cy="482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1717"/>
                </a:solidFill>
                <a:latin typeface="Pretendard JP Bold"/>
              </a:rPr>
              <a:t>必要に応じて拡張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30343" y="8681215"/>
            <a:ext cx="10536950" cy="15169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1717"/>
                </a:solidFill>
                <a:latin typeface="Pretendard JP Medium"/>
              </a:rPr>
              <a:t>OCR・高度な条件
外部連携・運用支援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530343" y="10252994"/>
            <a:ext cx="10536950" cy="0"/>
          </a:xfrm>
          <a:prstGeom prst="line">
            <a:avLst/>
          </a:prstGeom>
          <a:ln w="1905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118863" y="8909415"/>
            <a:ext cx="146304" cy="0"/>
          </a:xfrm>
          <a:prstGeom prst="line">
            <a:avLst/>
          </a:prstGeom>
          <a:ln w="2159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A42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1" y="617220"/>
            <a:ext cx="22189468" cy="106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171717"/>
                </a:solidFill>
                <a:latin typeface="Pretendard JP Bold"/>
              </a:rPr>
              <a:t>デモ・見積・導入相談へ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1" y="1824457"/>
            <a:ext cx="22189468" cy="561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71717"/>
                </a:solidFill>
                <a:latin typeface="Pretendard JP Medium"/>
              </a:rPr>
              <a:t>キャンペーン内容と開始希望日をお知らせください。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1" y="2605583"/>
            <a:ext cx="181953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1717"/>
                </a:solidFill>
                <a:latin typeface="Pretendard JP Medium"/>
              </a:rPr>
              <a:t>必要な準備と標準範囲を整理し、開始までの流れをご案内します。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1" y="7756169"/>
            <a:ext cx="718922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3313" y="8012201"/>
            <a:ext cx="667716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1717"/>
                </a:solidFill>
                <a:latin typeface="Pretendard JP Bold"/>
              </a:rPr>
              <a:t>30分デモ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3" y="8548040"/>
            <a:ext cx="6677161" cy="277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1717"/>
                </a:solidFill>
                <a:latin typeface="Pretendard JP Medium"/>
              </a:rPr>
              <a:t>実際の画面と流れを確認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53313" y="8890025"/>
            <a:ext cx="6677162" cy="0"/>
          </a:xfrm>
          <a:prstGeom prst="line">
            <a:avLst/>
          </a:prstGeom>
          <a:ln w="1905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597403" y="7756169"/>
            <a:ext cx="718922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53435" y="8012201"/>
            <a:ext cx="667716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1717"/>
                </a:solidFill>
                <a:latin typeface="Pretendard JP Bold"/>
              </a:rPr>
              <a:t>見積依頼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435" y="8548040"/>
            <a:ext cx="6677161" cy="277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1717"/>
                </a:solidFill>
                <a:latin typeface="Pretendard JP Medium"/>
              </a:rPr>
              <a:t>条件に合わせて費用を整理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53435" y="8890025"/>
            <a:ext cx="6677161" cy="0"/>
          </a:xfrm>
          <a:prstGeom prst="line">
            <a:avLst/>
          </a:prstGeom>
          <a:ln w="1905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6097524" y="7756169"/>
            <a:ext cx="718922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53556" y="8012201"/>
            <a:ext cx="667716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1717"/>
                </a:solidFill>
                <a:latin typeface="Pretendard JP Bold"/>
              </a:rPr>
              <a:t>導入相談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53556" y="8548040"/>
            <a:ext cx="6677161" cy="277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1717"/>
                </a:solidFill>
                <a:latin typeface="Pretendard JP Medium"/>
              </a:rPr>
              <a:t>Lite／フル版を一緒に選定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353556" y="8890025"/>
            <a:ext cx="6677161" cy="0"/>
          </a:xfrm>
          <a:prstGeom prst="line">
            <a:avLst/>
          </a:prstGeom>
          <a:ln w="19050">
            <a:solidFill>
              <a:srgbClr val="FF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