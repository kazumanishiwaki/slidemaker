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7DE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white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5669280" y="3657600"/>
            <a:ext cx="3474720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115568"/>
            <a:ext cx="7086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レシート応募キャンペーンを、</a:t>
            </a:r>
            <a:endParaRPr lang="en-US" sz="2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もっと簡単に。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41248" y="2231136"/>
            <a:ext cx="137160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41248" y="2542032"/>
            <a:ext cx="6263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広告代理店・メーカーの販促担当のための、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レシート応募キャンペーンCMS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914400" y="3401568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78992" y="3337560"/>
            <a:ext cx="5212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LP設定から応募受付・抽選まで一つの管理画面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914400" y="378561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3721608"/>
            <a:ext cx="5212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Web・LINEミニアプリ両対応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1248" y="4480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2026.07.08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目次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本日の流れ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4400" y="11338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417320" y="1225296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74520" y="10881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14400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417320" y="1828800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7452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3408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417320" y="2432304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74520" y="2295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機能一覧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14400" y="29443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417320" y="3035808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74520" y="2898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導入の流れ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914400" y="3547872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1417320" y="3639312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74520" y="35021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選ばれる理由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617720" y="1133856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120640" y="1225296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577840" y="1088136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適用ケース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617720" y="1737360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120640" y="1828800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77840" y="16916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617720" y="23408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08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120640" y="2432304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577840" y="229514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運用・セキュリティ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4617720" y="2944368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296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09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120640" y="3035808"/>
            <a:ext cx="329184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577840" y="289864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課題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作業が分散するほど、キャンペーンの運用負荷は増える。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21792" y="1078992"/>
            <a:ext cx="379476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LP制作、フォーム構築、画像受付、応募者管理、重複確認、CSV集計、抽選。7つの作業が別ツールと手作業に分かれがちです。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92040" y="941832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92040" y="101498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LP制作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6537960" y="941832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37960" y="1014984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フォーム構築</a:t>
            </a:r>
            <a:endParaRPr lang="en-US" sz="940" dirty="0"/>
          </a:p>
        </p:txBody>
      </p:sp>
      <p:sp>
        <p:nvSpPr>
          <p:cNvPr id="15" name="Shape 12"/>
          <p:cNvSpPr/>
          <p:nvPr/>
        </p:nvSpPr>
        <p:spPr>
          <a:xfrm>
            <a:off x="4892040" y="1472184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92040" y="154533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画像受付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6537960" y="1472184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37960" y="1545336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応募者管理</a:t>
            </a:r>
            <a:endParaRPr lang="en-US" sz="940" dirty="0"/>
          </a:p>
        </p:txBody>
      </p:sp>
      <p:sp>
        <p:nvSpPr>
          <p:cNvPr id="19" name="Shape 16"/>
          <p:cNvSpPr/>
          <p:nvPr/>
        </p:nvSpPr>
        <p:spPr>
          <a:xfrm>
            <a:off x="4892040" y="2002536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20756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重複確認</a:t>
            </a:r>
            <a:endParaRPr lang="en-US" sz="940" dirty="0"/>
          </a:p>
        </p:txBody>
      </p:sp>
      <p:sp>
        <p:nvSpPr>
          <p:cNvPr id="21" name="Shape 18"/>
          <p:cNvSpPr/>
          <p:nvPr/>
        </p:nvSpPr>
        <p:spPr>
          <a:xfrm>
            <a:off x="6537960" y="2002536"/>
            <a:ext cx="1325880" cy="310896"/>
          </a:xfrm>
          <a:prstGeom prst="roundRect">
            <a:avLst>
              <a:gd name="adj" fmla="val 5882"/>
            </a:avLst>
          </a:prstGeom>
          <a:solidFill>
            <a:srgbClr val="E6EBED"/>
          </a:solidFill>
          <a:ln w="5080">
            <a:solidFill>
              <a:srgbClr val="E6EB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37960" y="2075688"/>
            <a:ext cx="1325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CSV集計</a:t>
            </a:r>
            <a:endParaRPr lang="en-US" sz="940" dirty="0"/>
          </a:p>
        </p:txBody>
      </p:sp>
      <p:sp>
        <p:nvSpPr>
          <p:cNvPr id="23" name="Shape 20"/>
          <p:cNvSpPr/>
          <p:nvPr/>
        </p:nvSpPr>
        <p:spPr>
          <a:xfrm>
            <a:off x="4892040" y="2532888"/>
            <a:ext cx="3017520" cy="310896"/>
          </a:xfrm>
          <a:prstGeom prst="roundRect">
            <a:avLst>
              <a:gd name="adj" fmla="val 5882"/>
            </a:avLst>
          </a:prstGeom>
          <a:solidFill>
            <a:srgbClr val="F4F400"/>
          </a:solidFill>
          <a:ln w="5080">
            <a:solidFill>
              <a:srgbClr val="F4F4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2606040"/>
            <a:ext cx="3017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抽選</a:t>
            </a:r>
            <a:endParaRPr lang="en-US" sz="940" dirty="0"/>
          </a:p>
        </p:txBody>
      </p:sp>
      <p:sp>
        <p:nvSpPr>
          <p:cNvPr id="25" name="Shape 22"/>
          <p:cNvSpPr/>
          <p:nvPr/>
        </p:nvSpPr>
        <p:spPr>
          <a:xfrm>
            <a:off x="658368" y="2880360"/>
            <a:ext cx="7571232" cy="1024128"/>
          </a:xfrm>
          <a:prstGeom prst="rect">
            <a:avLst/>
          </a:prstGeom>
          <a:solidFill>
            <a:srgbClr val="F5F7F8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86384" y="299923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小〜中規模案件で起きやすいこと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86384" y="3319272"/>
            <a:ext cx="7315200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高機能システムは、要件・費用ともに過剰になりやすい。導入前の整理、設定、運用確認に時間がかかるほど、キャンペーン本来のスピードが落ちます。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解決策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必要十分な機能を、一つのCMSで。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960120"/>
            <a:ext cx="3337560" cy="932688"/>
          </a:xfrm>
          <a:prstGeom prst="rect">
            <a:avLst/>
          </a:prstGeom>
          <a:solidFill>
            <a:srgbClr val="F4F400"/>
          </a:solidFill>
          <a:ln w="7620">
            <a:solidFill>
              <a:srgbClr val="F4F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07899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テンプレートベースのLP設定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" y="1399032"/>
            <a:ext cx="308152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制作なしで公開まで最短▢営業日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44568" y="960120"/>
            <a:ext cx="3337560" cy="93268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72584" y="1078992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ワンストップ運用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672584" y="1399032"/>
            <a:ext cx="308152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応募フォーム・画像受付・応募者管理・抽選まで対応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8368" y="2203704"/>
            <a:ext cx="3337560" cy="93268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6384" y="232257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クライアントユーザー管理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86384" y="2642616"/>
            <a:ext cx="308152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権限発行により、担当者間で運用を分担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44568" y="2203704"/>
            <a:ext cx="3337560" cy="93268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72584" y="2322576"/>
            <a:ext cx="30815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Web／LINEミニアプリ両対応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672584" y="2642616"/>
            <a:ext cx="3081528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キャンペーンの公開種別に合わせて応募受付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14400" y="3858768"/>
            <a:ext cx="694944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LP設定から応募データの出力まで、キャンペーン運用の基本動線を一つの管理画面に集約します。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機能一覧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開始から抽選まで、実務に必要な機能を標準搭載。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352" y="841248"/>
            <a:ext cx="1755648" cy="310896"/>
          </a:xfrm>
          <a:prstGeom prst="roundRect">
            <a:avLst>
              <a:gd name="adj" fmla="val 5882"/>
            </a:avLst>
          </a:prstGeom>
          <a:solidFill>
            <a:srgbClr val="434343"/>
          </a:solidFill>
          <a:ln w="12700">
            <a:solidFill>
              <a:srgbClr val="4343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9144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ページ・公開設定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0352" y="1298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テンプレートLP設定</a:t>
            </a:r>
            <a:endParaRPr lang="en-US" sz="890" dirty="0"/>
          </a:p>
        </p:txBody>
      </p:sp>
      <p:sp>
        <p:nvSpPr>
          <p:cNvPr id="13" name="Text 10"/>
          <p:cNvSpPr/>
          <p:nvPr/>
        </p:nvSpPr>
        <p:spPr>
          <a:xfrm>
            <a:off x="530352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文言、画像、配色、フォント、ロゴ画像などを設定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530352" y="1847088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0352" y="1956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OGP / SEO設定</a:t>
            </a:r>
            <a:endParaRPr lang="en-US" sz="890" dirty="0"/>
          </a:p>
        </p:txBody>
      </p:sp>
      <p:sp>
        <p:nvSpPr>
          <p:cNvPr id="16" name="Text 13"/>
          <p:cNvSpPr/>
          <p:nvPr/>
        </p:nvSpPr>
        <p:spPr>
          <a:xfrm>
            <a:off x="530352" y="2157984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メタタイトル、説明文、OGP画像、faviconを設定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530352" y="2505456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26151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期間設定</a:t>
            </a:r>
            <a:endParaRPr lang="en-US" sz="890" dirty="0"/>
          </a:p>
        </p:txBody>
      </p:sp>
      <p:sp>
        <p:nvSpPr>
          <p:cNvPr id="19" name="Text 16"/>
          <p:cNvSpPr/>
          <p:nvPr/>
        </p:nvSpPr>
        <p:spPr>
          <a:xfrm>
            <a:off x="530352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キャンペーン期間、レシート対象期間、応募受付期間を管理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530352" y="3163824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0352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 / LINEミニアプリ応募受付</a:t>
            </a:r>
            <a:endParaRPr lang="en-US" sz="890" dirty="0"/>
          </a:p>
        </p:txBody>
      </p:sp>
      <p:sp>
        <p:nvSpPr>
          <p:cNvPr id="22" name="Text 19"/>
          <p:cNvSpPr/>
          <p:nvPr/>
        </p:nvSpPr>
        <p:spPr>
          <a:xfrm>
            <a:off x="530352" y="3474720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Web公開に加え、LINEミニアプリ上の応募受付に対応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530352" y="3822192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017520" y="841248"/>
            <a:ext cx="1755648" cy="310896"/>
          </a:xfrm>
          <a:prstGeom prst="roundRect">
            <a:avLst>
              <a:gd name="adj" fmla="val 5882"/>
            </a:avLst>
          </a:prstGeom>
          <a:solidFill>
            <a:srgbClr val="434343"/>
          </a:solidFill>
          <a:ln w="12700">
            <a:solidFill>
              <a:srgbClr val="434343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017520" y="9144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応募・データ管理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017520" y="1298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応募フォーム設定</a:t>
            </a:r>
            <a:endParaRPr lang="en-US" sz="890" dirty="0"/>
          </a:p>
        </p:txBody>
      </p:sp>
      <p:sp>
        <p:nvSpPr>
          <p:cNvPr id="27" name="Text 24"/>
          <p:cNvSpPr/>
          <p:nvPr/>
        </p:nvSpPr>
        <p:spPr>
          <a:xfrm>
            <a:off x="3017520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個人情報項目、アンケート項目、必須設定、選択肢を設定</a:t>
            </a:r>
            <a:endParaRPr lang="en-US" sz="780" dirty="0"/>
          </a:p>
        </p:txBody>
      </p:sp>
      <p:sp>
        <p:nvSpPr>
          <p:cNvPr id="28" name="Shape 25"/>
          <p:cNvSpPr/>
          <p:nvPr/>
        </p:nvSpPr>
        <p:spPr>
          <a:xfrm>
            <a:off x="3017520" y="1847088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017520" y="1956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レシート画像受付</a:t>
            </a:r>
            <a:endParaRPr lang="en-US" sz="890" dirty="0"/>
          </a:p>
        </p:txBody>
      </p:sp>
      <p:sp>
        <p:nvSpPr>
          <p:cNvPr id="30" name="Text 27"/>
          <p:cNvSpPr/>
          <p:nvPr/>
        </p:nvSpPr>
        <p:spPr>
          <a:xfrm>
            <a:off x="3017520" y="2157984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複数枚アップロード可能。1応募あたり最大▢枚</a:t>
            </a:r>
            <a:endParaRPr lang="en-US" sz="780" dirty="0"/>
          </a:p>
        </p:txBody>
      </p:sp>
      <p:sp>
        <p:nvSpPr>
          <p:cNvPr id="31" name="Shape 28"/>
          <p:cNvSpPr/>
          <p:nvPr/>
        </p:nvSpPr>
        <p:spPr>
          <a:xfrm>
            <a:off x="3017520" y="2505456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017520" y="26151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応募者管理</a:t>
            </a:r>
            <a:endParaRPr lang="en-US" sz="890" dirty="0"/>
          </a:p>
        </p:txBody>
      </p:sp>
      <p:sp>
        <p:nvSpPr>
          <p:cNvPr id="33" name="Text 30"/>
          <p:cNvSpPr/>
          <p:nvPr/>
        </p:nvSpPr>
        <p:spPr>
          <a:xfrm>
            <a:off x="3017520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名前、メールアドレス、応募日、重複フィルターで検索</a:t>
            </a:r>
            <a:endParaRPr lang="en-US" sz="780" dirty="0"/>
          </a:p>
        </p:txBody>
      </p:sp>
      <p:sp>
        <p:nvSpPr>
          <p:cNvPr id="34" name="Shape 31"/>
          <p:cNvSpPr/>
          <p:nvPr/>
        </p:nvSpPr>
        <p:spPr>
          <a:xfrm>
            <a:off x="3017520" y="3163824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017520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CSV出力</a:t>
            </a:r>
            <a:endParaRPr lang="en-US" sz="890" dirty="0"/>
          </a:p>
        </p:txBody>
      </p:sp>
      <p:sp>
        <p:nvSpPr>
          <p:cNvPr id="36" name="Text 33"/>
          <p:cNvSpPr/>
          <p:nvPr/>
        </p:nvSpPr>
        <p:spPr>
          <a:xfrm>
            <a:off x="3017520" y="3474720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検索条件を反映して応募者CSVを出力。出力項目 ▢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3017520" y="3822192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04688" y="841248"/>
            <a:ext cx="1755648" cy="310896"/>
          </a:xfrm>
          <a:prstGeom prst="roundRect">
            <a:avLst>
              <a:gd name="adj" fmla="val 5882"/>
            </a:avLst>
          </a:prstGeom>
          <a:solidFill>
            <a:srgbClr val="434343"/>
          </a:solidFill>
          <a:ln w="12700">
            <a:solidFill>
              <a:srgbClr val="434343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04688" y="91440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運用・拡張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5504688" y="1298448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自動返信メール</a:t>
            </a:r>
            <a:endParaRPr lang="en-US" sz="890" dirty="0"/>
          </a:p>
        </p:txBody>
      </p:sp>
      <p:sp>
        <p:nvSpPr>
          <p:cNvPr id="41" name="Text 38"/>
          <p:cNvSpPr/>
          <p:nvPr/>
        </p:nvSpPr>
        <p:spPr>
          <a:xfrm>
            <a:off x="5504688" y="1499616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送信元、件名、本文、差し込み変数を設定</a:t>
            </a:r>
            <a:endParaRPr lang="en-US" sz="780" dirty="0"/>
          </a:p>
        </p:txBody>
      </p:sp>
      <p:sp>
        <p:nvSpPr>
          <p:cNvPr id="42" name="Shape 39"/>
          <p:cNvSpPr/>
          <p:nvPr/>
        </p:nvSpPr>
        <p:spPr>
          <a:xfrm>
            <a:off x="5504688" y="1847088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504688" y="1956816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トラッキング設定</a:t>
            </a:r>
            <a:endParaRPr lang="en-US" sz="890" dirty="0"/>
          </a:p>
        </p:txBody>
      </p:sp>
      <p:sp>
        <p:nvSpPr>
          <p:cNvPr id="44" name="Text 41"/>
          <p:cNvSpPr/>
          <p:nvPr/>
        </p:nvSpPr>
        <p:spPr>
          <a:xfrm>
            <a:off x="5504688" y="2157984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GA、GTM、GA4などの計測タグを設定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5504688" y="2505456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504688" y="261518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抽選・当選候補CSV出力</a:t>
            </a:r>
            <a:endParaRPr lang="en-US" sz="890" dirty="0"/>
          </a:p>
        </p:txBody>
      </p:sp>
      <p:sp>
        <p:nvSpPr>
          <p:cNvPr id="47" name="Text 44"/>
          <p:cNvSpPr/>
          <p:nvPr/>
        </p:nvSpPr>
        <p:spPr>
          <a:xfrm>
            <a:off x="5504688" y="2816352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指定人数をランダム抽出し、CSV出力</a:t>
            </a:r>
            <a:endParaRPr lang="en-US" sz="780" dirty="0"/>
          </a:p>
        </p:txBody>
      </p:sp>
      <p:sp>
        <p:nvSpPr>
          <p:cNvPr id="48" name="Shape 45"/>
          <p:cNvSpPr/>
          <p:nvPr/>
        </p:nvSpPr>
        <p:spPr>
          <a:xfrm>
            <a:off x="5504688" y="3163824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04688" y="327355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ユーザー管理</a:t>
            </a:r>
            <a:endParaRPr lang="en-US" sz="890" dirty="0"/>
          </a:p>
        </p:txBody>
      </p:sp>
      <p:sp>
        <p:nvSpPr>
          <p:cNvPr id="50" name="Text 47"/>
          <p:cNvSpPr/>
          <p:nvPr/>
        </p:nvSpPr>
        <p:spPr>
          <a:xfrm>
            <a:off x="5504688" y="3474720"/>
            <a:ext cx="214884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クライアント担当者アカウントを発行・管理</a:t>
            </a:r>
            <a:endParaRPr lang="en-US" sz="780" dirty="0"/>
          </a:p>
        </p:txBody>
      </p:sp>
      <p:sp>
        <p:nvSpPr>
          <p:cNvPr id="51" name="Shape 48"/>
          <p:cNvSpPr/>
          <p:nvPr/>
        </p:nvSpPr>
        <p:spPr>
          <a:xfrm>
            <a:off x="5504688" y="3822192"/>
            <a:ext cx="2148840" cy="0"/>
          </a:xfrm>
          <a:prstGeom prst="line">
            <a:avLst/>
          </a:prstGeom>
          <a:noFill/>
          <a:ln w="5715">
            <a:solidFill>
              <a:srgbClr val="CCCCC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66928" y="4224528"/>
            <a:ext cx="27432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応募データ保持期間：▢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導入の流れ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設定して、確認して、公開。あとは応募を集めて抽選。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30352" y="914400"/>
            <a:ext cx="475488" cy="310896"/>
          </a:xfrm>
          <a:prstGeom prst="rect">
            <a:avLst/>
          </a:prstGeom>
          <a:solidFill>
            <a:srgbClr val="E6EBED"/>
          </a:solidFill>
          <a:ln w="8255">
            <a:solidFill>
              <a:srgbClr val="11111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996696"/>
            <a:ext cx="4754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No.</a:t>
            </a:r>
            <a:endParaRPr lang="en-US" sz="830" dirty="0"/>
          </a:p>
        </p:txBody>
      </p:sp>
      <p:sp>
        <p:nvSpPr>
          <p:cNvPr id="12" name="Shape 9"/>
          <p:cNvSpPr/>
          <p:nvPr/>
        </p:nvSpPr>
        <p:spPr>
          <a:xfrm>
            <a:off x="1078992" y="914400"/>
            <a:ext cx="3977640" cy="310896"/>
          </a:xfrm>
          <a:prstGeom prst="rect">
            <a:avLst/>
          </a:prstGeom>
          <a:solidFill>
            <a:srgbClr val="E6EBED"/>
          </a:solidFill>
          <a:ln w="8255">
            <a:solidFill>
              <a:srgbClr val="11111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996696"/>
            <a:ext cx="3977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5257800" y="914400"/>
            <a:ext cx="1325880" cy="310896"/>
          </a:xfrm>
          <a:prstGeom prst="rect">
            <a:avLst/>
          </a:prstGeom>
          <a:solidFill>
            <a:srgbClr val="E6EBED"/>
          </a:solidFill>
          <a:ln w="8255">
            <a:solidFill>
              <a:srgbClr val="11111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99669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</a:t>
            </a:r>
            <a:endParaRPr lang="en-US" sz="830" dirty="0"/>
          </a:p>
        </p:txBody>
      </p:sp>
      <p:sp>
        <p:nvSpPr>
          <p:cNvPr id="16" name="Shape 13"/>
          <p:cNvSpPr/>
          <p:nvPr/>
        </p:nvSpPr>
        <p:spPr>
          <a:xfrm>
            <a:off x="6839712" y="914400"/>
            <a:ext cx="1143000" cy="310896"/>
          </a:xfrm>
          <a:prstGeom prst="rect">
            <a:avLst/>
          </a:prstGeom>
          <a:solidFill>
            <a:srgbClr val="E6EBED"/>
          </a:solidFill>
          <a:ln w="8255">
            <a:solidFill>
              <a:srgbClr val="11111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39712" y="996696"/>
            <a:ext cx="1143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目安日数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530352" y="1225296"/>
            <a:ext cx="475488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4360" y="133502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1078992" y="1225296"/>
            <a:ext cx="397764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143000" y="1335024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プロジェクトを作成</a:t>
            </a:r>
            <a:endParaRPr lang="en-US" sz="860" dirty="0"/>
          </a:p>
        </p:txBody>
      </p:sp>
      <p:sp>
        <p:nvSpPr>
          <p:cNvPr id="22" name="Shape 19"/>
          <p:cNvSpPr/>
          <p:nvPr/>
        </p:nvSpPr>
        <p:spPr>
          <a:xfrm>
            <a:off x="5257800" y="1225296"/>
            <a:ext cx="132588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1808" y="1335024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代理店／御社</a:t>
            </a:r>
            <a:endParaRPr lang="en-US" sz="840" dirty="0"/>
          </a:p>
        </p:txBody>
      </p:sp>
      <p:sp>
        <p:nvSpPr>
          <p:cNvPr id="24" name="Shape 21"/>
          <p:cNvSpPr/>
          <p:nvPr/>
        </p:nvSpPr>
        <p:spPr>
          <a:xfrm>
            <a:off x="6839712" y="1225296"/>
            <a:ext cx="114300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903720" y="1335024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30352" y="1618488"/>
            <a:ext cx="475488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172821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840" dirty="0"/>
          </a:p>
        </p:txBody>
      </p:sp>
      <p:sp>
        <p:nvSpPr>
          <p:cNvPr id="28" name="Shape 25"/>
          <p:cNvSpPr/>
          <p:nvPr/>
        </p:nvSpPr>
        <p:spPr>
          <a:xfrm>
            <a:off x="1078992" y="1618488"/>
            <a:ext cx="397764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143000" y="1728216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キャンペーン文言、フォーム、画像、メール、計測タグを設定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5257800" y="1618488"/>
            <a:ext cx="132588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21808" y="1728216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代理店／御社</a:t>
            </a:r>
            <a:endParaRPr lang="en-US" sz="840" dirty="0"/>
          </a:p>
        </p:txBody>
      </p:sp>
      <p:sp>
        <p:nvSpPr>
          <p:cNvPr id="32" name="Shape 29"/>
          <p:cNvSpPr/>
          <p:nvPr/>
        </p:nvSpPr>
        <p:spPr>
          <a:xfrm>
            <a:off x="6839712" y="1618488"/>
            <a:ext cx="114300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903720" y="1728216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34" name="Shape 31"/>
          <p:cNvSpPr/>
          <p:nvPr/>
        </p:nvSpPr>
        <p:spPr>
          <a:xfrm>
            <a:off x="530352" y="2011680"/>
            <a:ext cx="475488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4360" y="2121408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840" dirty="0"/>
          </a:p>
        </p:txBody>
      </p:sp>
      <p:sp>
        <p:nvSpPr>
          <p:cNvPr id="36" name="Shape 33"/>
          <p:cNvSpPr/>
          <p:nvPr/>
        </p:nvSpPr>
        <p:spPr>
          <a:xfrm>
            <a:off x="1078992" y="2011680"/>
            <a:ext cx="397764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43000" y="2121408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プレビューURLでLP・フォーム・確認画面・完了画面を確認</a:t>
            </a:r>
            <a:endParaRPr lang="en-US" sz="860" dirty="0"/>
          </a:p>
        </p:txBody>
      </p:sp>
      <p:sp>
        <p:nvSpPr>
          <p:cNvPr id="38" name="Shape 35"/>
          <p:cNvSpPr/>
          <p:nvPr/>
        </p:nvSpPr>
        <p:spPr>
          <a:xfrm>
            <a:off x="5257800" y="2011680"/>
            <a:ext cx="132588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21808" y="2121408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代理店／クライアント</a:t>
            </a:r>
            <a:endParaRPr lang="en-US" sz="840" dirty="0"/>
          </a:p>
        </p:txBody>
      </p:sp>
      <p:sp>
        <p:nvSpPr>
          <p:cNvPr id="40" name="Shape 37"/>
          <p:cNvSpPr/>
          <p:nvPr/>
        </p:nvSpPr>
        <p:spPr>
          <a:xfrm>
            <a:off x="6839712" y="2011680"/>
            <a:ext cx="114300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03720" y="2121408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42" name="Shape 39"/>
          <p:cNvSpPr/>
          <p:nvPr/>
        </p:nvSpPr>
        <p:spPr>
          <a:xfrm>
            <a:off x="530352" y="2404872"/>
            <a:ext cx="475488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" y="2514600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840" dirty="0"/>
          </a:p>
        </p:txBody>
      </p:sp>
      <p:sp>
        <p:nvSpPr>
          <p:cNvPr id="44" name="Shape 41"/>
          <p:cNvSpPr/>
          <p:nvPr/>
        </p:nvSpPr>
        <p:spPr>
          <a:xfrm>
            <a:off x="1078992" y="2404872"/>
            <a:ext cx="397764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143000" y="2514600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プレビュー応募でテスト送信を確認</a:t>
            </a:r>
            <a:endParaRPr lang="en-US" sz="860" dirty="0"/>
          </a:p>
        </p:txBody>
      </p:sp>
      <p:sp>
        <p:nvSpPr>
          <p:cNvPr id="46" name="Shape 43"/>
          <p:cNvSpPr/>
          <p:nvPr/>
        </p:nvSpPr>
        <p:spPr>
          <a:xfrm>
            <a:off x="5257800" y="2404872"/>
            <a:ext cx="132588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21808" y="2514600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代理店／クライアント</a:t>
            </a:r>
            <a:endParaRPr lang="en-US" sz="840" dirty="0"/>
          </a:p>
        </p:txBody>
      </p:sp>
      <p:sp>
        <p:nvSpPr>
          <p:cNvPr id="48" name="Shape 45"/>
          <p:cNvSpPr/>
          <p:nvPr/>
        </p:nvSpPr>
        <p:spPr>
          <a:xfrm>
            <a:off x="6839712" y="2404872"/>
            <a:ext cx="114300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903720" y="2514600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50" name="Shape 47"/>
          <p:cNvSpPr/>
          <p:nvPr/>
        </p:nvSpPr>
        <p:spPr>
          <a:xfrm>
            <a:off x="530352" y="2798064"/>
            <a:ext cx="475488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2907792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1078992" y="2798064"/>
            <a:ext cx="397764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143000" y="2907792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公開ステータスに切り替え</a:t>
            </a:r>
            <a:endParaRPr lang="en-US" sz="860" dirty="0"/>
          </a:p>
        </p:txBody>
      </p:sp>
      <p:sp>
        <p:nvSpPr>
          <p:cNvPr id="54" name="Shape 51"/>
          <p:cNvSpPr/>
          <p:nvPr/>
        </p:nvSpPr>
        <p:spPr>
          <a:xfrm>
            <a:off x="5257800" y="2798064"/>
            <a:ext cx="132588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21808" y="2907792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御社</a:t>
            </a:r>
            <a:endParaRPr lang="en-US" sz="840" dirty="0"/>
          </a:p>
        </p:txBody>
      </p:sp>
      <p:sp>
        <p:nvSpPr>
          <p:cNvPr id="56" name="Shape 53"/>
          <p:cNvSpPr/>
          <p:nvPr/>
        </p:nvSpPr>
        <p:spPr>
          <a:xfrm>
            <a:off x="6839712" y="2798064"/>
            <a:ext cx="114300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03720" y="290779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530352" y="3191256"/>
            <a:ext cx="475488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594360" y="3300984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840" dirty="0"/>
          </a:p>
        </p:txBody>
      </p:sp>
      <p:sp>
        <p:nvSpPr>
          <p:cNvPr id="60" name="Shape 57"/>
          <p:cNvSpPr/>
          <p:nvPr/>
        </p:nvSpPr>
        <p:spPr>
          <a:xfrm>
            <a:off x="1078992" y="3191256"/>
            <a:ext cx="397764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143000" y="3300984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応募内容を管理画面で確認し、必要に応じてCSV出力</a:t>
            </a:r>
            <a:endParaRPr lang="en-US" sz="860" dirty="0"/>
          </a:p>
        </p:txBody>
      </p:sp>
      <p:sp>
        <p:nvSpPr>
          <p:cNvPr id="62" name="Shape 59"/>
          <p:cNvSpPr/>
          <p:nvPr/>
        </p:nvSpPr>
        <p:spPr>
          <a:xfrm>
            <a:off x="5257800" y="3191256"/>
            <a:ext cx="132588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321808" y="3300984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代理店／クライアント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6839712" y="3191256"/>
            <a:ext cx="1143000" cy="393192"/>
          </a:xfrm>
          <a:prstGeom prst="rect">
            <a:avLst/>
          </a:prstGeom>
          <a:solidFill>
            <a:srgbClr val="F5F7F8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6903720" y="3300984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66" name="Shape 63"/>
          <p:cNvSpPr/>
          <p:nvPr/>
        </p:nvSpPr>
        <p:spPr>
          <a:xfrm>
            <a:off x="530352" y="3584448"/>
            <a:ext cx="475488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94360" y="3694176"/>
            <a:ext cx="347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07</a:t>
            </a:r>
            <a:endParaRPr lang="en-US" sz="840" dirty="0"/>
          </a:p>
        </p:txBody>
      </p:sp>
      <p:sp>
        <p:nvSpPr>
          <p:cNvPr id="68" name="Shape 65"/>
          <p:cNvSpPr/>
          <p:nvPr/>
        </p:nvSpPr>
        <p:spPr>
          <a:xfrm>
            <a:off x="1078992" y="3584448"/>
            <a:ext cx="397764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143000" y="3694176"/>
            <a:ext cx="38496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キャンペーン終了後に抽選し、当選候補CSVを出力</a:t>
            </a:r>
            <a:endParaRPr lang="en-US" sz="860" dirty="0"/>
          </a:p>
        </p:txBody>
      </p:sp>
      <p:sp>
        <p:nvSpPr>
          <p:cNvPr id="70" name="Shape 67"/>
          <p:cNvSpPr/>
          <p:nvPr/>
        </p:nvSpPr>
        <p:spPr>
          <a:xfrm>
            <a:off x="5257800" y="3584448"/>
            <a:ext cx="132588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321808" y="3694176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代理店／御社</a:t>
            </a:r>
            <a:endParaRPr lang="en-US" sz="840" dirty="0"/>
          </a:p>
        </p:txBody>
      </p:sp>
      <p:sp>
        <p:nvSpPr>
          <p:cNvPr id="72" name="Shape 69"/>
          <p:cNvSpPr/>
          <p:nvPr/>
        </p:nvSpPr>
        <p:spPr>
          <a:xfrm>
            <a:off x="6839712" y="3584448"/>
            <a:ext cx="1143000" cy="393192"/>
          </a:xfrm>
          <a:prstGeom prst="rect">
            <a:avLst/>
          </a:prstGeom>
          <a:solidFill>
            <a:srgbClr val="FCFCFC"/>
          </a:solidFill>
          <a:ln w="5715">
            <a:solidFill>
              <a:srgbClr val="CCCCC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903720" y="3694176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▢日</a:t>
            </a:r>
            <a:endParaRPr lang="en-US" sz="840" dirty="0"/>
          </a:p>
        </p:txBody>
      </p:sp>
      <p:sp>
        <p:nvSpPr>
          <p:cNvPr id="74" name="Text 71"/>
          <p:cNvSpPr/>
          <p:nvPr/>
        </p:nvSpPr>
        <p:spPr>
          <a:xfrm>
            <a:off x="658368" y="4224528"/>
            <a:ext cx="74066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プレビュー応募は本番応募データに残らないため、公開前の表示確認・入力確認に使えます。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選ばれる理由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機能数で競わない。必要十分なCMSとして、キャンペーンの前段に立つ。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58368" y="1024128"/>
            <a:ext cx="2212848" cy="2697480"/>
          </a:xfrm>
          <a:prstGeom prst="rect">
            <a:avLst/>
          </a:prstGeom>
          <a:solidFill>
            <a:srgbClr val="E6EBE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6384" y="114300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標準非搭載を明示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6384" y="1463040"/>
            <a:ext cx="1956816" cy="2167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AI-OCR自動読取</a:t>
            </a:r>
            <a:endParaRPr lang="en-US" sz="9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不正応募の自動判定</a:t>
            </a:r>
            <a:endParaRPr lang="en-US" sz="9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即時抽選</a:t>
            </a:r>
            <a:endParaRPr lang="en-US" sz="9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LINE配信</a:t>
            </a:r>
            <a:endParaRPr lang="en-US" sz="980" dirty="0"/>
          </a:p>
          <a:p>
            <a:pPr algn="l" indent="0" marL="0">
              <a:lnSpc>
                <a:spcPct val="115000"/>
              </a:lnSpc>
              <a:buNone/>
            </a:pPr>
            <a:endParaRPr lang="en-US" sz="9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個別要件として対応可。料金Optionで整理します。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3236976" y="1024128"/>
            <a:ext cx="2487168" cy="2697480"/>
          </a:xfrm>
          <a:prstGeom prst="rect">
            <a:avLst/>
          </a:prstGeom>
          <a:solidFill>
            <a:srgbClr val="FCFCFC"/>
          </a:solidFill>
          <a:ln w="762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64992" y="1143000"/>
            <a:ext cx="22311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基本動線を集約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3364992" y="1463040"/>
            <a:ext cx="2231136" cy="2167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LP設定、フォーム、画像受付、応募者管理、CSV出力、抽選までを一画面に集約。小〜中規模キャンペーンの運用を迷わせません。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6089904" y="1024128"/>
            <a:ext cx="2212848" cy="2697480"/>
          </a:xfrm>
          <a:prstGeom prst="rect">
            <a:avLst/>
          </a:prstGeom>
          <a:solidFill>
            <a:srgbClr val="F4F400"/>
          </a:solidFill>
          <a:ln w="7620">
            <a:solidFill>
              <a:srgbClr val="F4F4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17920" y="114300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ロックインしない設計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217920" y="1463040"/>
            <a:ext cx="1956816" cy="21671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応募データはCSVで持ち出せます。要件が育ったら拡張・移行できるため、まず小さく始められます。</a:t>
            </a:r>
            <a:endParaRPr lang="en-US" sz="1020" dirty="0"/>
          </a:p>
        </p:txBody>
      </p:sp>
      <p:sp>
        <p:nvSpPr>
          <p:cNvPr id="19" name="Text 16"/>
          <p:cNvSpPr/>
          <p:nvPr/>
        </p:nvSpPr>
        <p:spPr>
          <a:xfrm>
            <a:off x="960120" y="4069080"/>
            <a:ext cx="69951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高機能ツールの前段として、まずはレシート応募キャンペーンを確実に開始・運用するためのCMSです。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適用ケース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標準機能の範囲で完結する、小〜中規模キャンペーンに。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1024128"/>
            <a:ext cx="1828800" cy="310896"/>
          </a:xfrm>
          <a:prstGeom prst="roundRect">
            <a:avLst>
              <a:gd name="adj" fmla="val 5882"/>
            </a:avLst>
          </a:prstGeom>
          <a:solidFill>
            <a:srgbClr val="434343"/>
          </a:solidFill>
          <a:ln w="12700">
            <a:solidFill>
              <a:srgbClr val="43434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1097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代理店向け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4672" y="15910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1517904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複数クライアント案件の並行運用（権限分離）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04672" y="20482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9264" y="1975104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短納期の店頭連動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04672" y="25054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2432304"/>
            <a:ext cx="29718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複数案件の設定・応募データ確認を一元化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794760" y="1024128"/>
            <a:ext cx="1828800" cy="310896"/>
          </a:xfrm>
          <a:prstGeom prst="roundRect">
            <a:avLst>
              <a:gd name="adj" fmla="val 5882"/>
            </a:avLst>
          </a:prstGeom>
          <a:solidFill>
            <a:srgbClr val="434343"/>
          </a:solidFill>
          <a:ln w="12700">
            <a:solidFill>
              <a:srgbClr val="434343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794760" y="1097280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CF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メーカー向け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886200" y="15910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050792" y="1517904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自社製品のレシート応募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886200" y="20482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50792" y="1975104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期間・エリア限定の販促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886200" y="2505456"/>
            <a:ext cx="73152" cy="7315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50792" y="2432304"/>
            <a:ext cx="28346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アンケート付き応募による購買後接点づくり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903720" y="1024128"/>
            <a:ext cx="1627632" cy="2331720"/>
          </a:xfrm>
          <a:prstGeom prst="rect">
            <a:avLst/>
          </a:prstGeom>
          <a:solidFill>
            <a:srgbClr val="E6EBE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31736" y="11430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標準訴求の範囲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031736" y="1463040"/>
            <a:ext cx="1371600" cy="1801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LINEミニアプリでの応募受付</a:t>
            </a:r>
            <a:endParaRPr lang="en-US" sz="8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応募者管理</a:t>
            </a:r>
            <a:endParaRPr lang="en-US" sz="8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重複候補確認</a:t>
            </a:r>
            <a:endParaRPr lang="en-US" sz="8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CSV出力</a:t>
            </a:r>
            <a:endParaRPr lang="en-US" sz="88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8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後日抽選</a:t>
            </a:r>
            <a:endParaRPr lang="en-US" sz="880" dirty="0"/>
          </a:p>
        </p:txBody>
      </p:sp>
      <p:sp>
        <p:nvSpPr>
          <p:cNvPr id="29" name="Shape 26"/>
          <p:cNvSpPr/>
          <p:nvPr/>
        </p:nvSpPr>
        <p:spPr>
          <a:xfrm>
            <a:off x="777240" y="3730752"/>
            <a:ext cx="7406640" cy="594360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05256" y="3849624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実施例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05256" y="4169664"/>
            <a:ext cx="7150608" cy="64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94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1件入り次第、想定ケースと差し替え</a:t>
            </a:r>
            <a:endParaRPr lang="en-US" sz="9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キャンペーン単位の、わかりやすい料金。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5800" y="1051560"/>
            <a:ext cx="2240280" cy="1170432"/>
          </a:xfrm>
          <a:prstGeom prst="rect">
            <a:avLst/>
          </a:prstGeom>
          <a:solidFill>
            <a:srgbClr val="F4F400"/>
          </a:solidFill>
          <a:ln w="7620">
            <a:solidFill>
              <a:srgbClr val="F4F4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3816" y="1170432"/>
            <a:ext cx="1984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基本料金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3816" y="1490472"/>
            <a:ext cx="198424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 ¥▢ ＋ キャンペーン ¥▢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（月額課金の場合：月額 ¥▢）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148840" cy="1170432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74136" y="1170432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含まれるもの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74136" y="1490472"/>
            <a:ext cx="189280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標準機能一式</a:t>
            </a:r>
            <a:endParaRPr lang="en-US" sz="11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715000" y="1051560"/>
            <a:ext cx="2423160" cy="1170432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43016" y="1170432"/>
            <a:ext cx="2167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Option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843016" y="1490472"/>
            <a:ext cx="2167128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LINEミニアプリ対応 ¥▢</a:t>
            </a:r>
            <a:endParaRPr lang="en-US" sz="97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LINE公式アカウント＋審査が前提</a:t>
            </a:r>
            <a:endParaRPr lang="en-US" sz="97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7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OCR連携等は個別見積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685800" y="2743200"/>
            <a:ext cx="7452360" cy="841248"/>
          </a:xfrm>
          <a:prstGeom prst="rect">
            <a:avLst/>
          </a:prstGeom>
          <a:solidFill>
            <a:srgbClr val="F5F7F8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" y="2862072"/>
            <a:ext cx="7196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変動要因</a:t>
            </a:r>
            <a:endParaRPr lang="en-US" sz="1120" dirty="0"/>
          </a:p>
        </p:txBody>
      </p:sp>
      <p:sp>
        <p:nvSpPr>
          <p:cNvPr id="21" name="Text 18"/>
          <p:cNvSpPr/>
          <p:nvPr/>
        </p:nvSpPr>
        <p:spPr>
          <a:xfrm>
            <a:off x="813816" y="3182112"/>
            <a:ext cx="719632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2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料金はキャンペーン期間、応募想定数、レシート枚数、フォーム項目数、LINEミニアプリ審査・設定範囲、運用支援範囲により変動します。</a:t>
            </a:r>
            <a:endParaRPr lang="en-US" sz="1020" dirty="0"/>
          </a:p>
        </p:txBody>
      </p:sp>
      <p:sp>
        <p:nvSpPr>
          <p:cNvPr id="22" name="Text 19"/>
          <p:cNvSpPr/>
          <p:nvPr/>
        </p:nvSpPr>
        <p:spPr>
          <a:xfrm>
            <a:off x="804672" y="3977640"/>
            <a:ext cx="71780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4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※OCR、自動レシート判定、即時抽選、抽選履歴保存、LINEメッセージ配信、友だち追加連携は個別見積または拡張オプションとして整理。</a:t>
            </a:r>
            <a:endParaRPr lang="en-US" sz="9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運用・セキュリティ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応募者の個人情報を扱う前提で、保護と運用の仕様を明示。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713232" y="960120"/>
            <a:ext cx="2971800" cy="65836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1078992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通信の暗号化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41248" y="1399032"/>
            <a:ext cx="27157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416552" y="960120"/>
            <a:ext cx="2971800" cy="65836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44568" y="1078992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データ保管先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44568" y="1399032"/>
            <a:ext cx="27157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▢（国内リージョン等）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13232" y="1901952"/>
            <a:ext cx="2971800" cy="65836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41248" y="202082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保持期間・削除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41248" y="2340864"/>
            <a:ext cx="27157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キャンペーン終了後▢日で削除 等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416552" y="1901952"/>
            <a:ext cx="2971800" cy="658368"/>
          </a:xfrm>
          <a:prstGeom prst="rect">
            <a:avLst/>
          </a:prstGeom>
          <a:solidFill>
            <a:srgbClr val="E6EBE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44568" y="2020824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アクセス制御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44568" y="2340864"/>
            <a:ext cx="271576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クライアントユーザー管理による権限分離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13232" y="2843784"/>
            <a:ext cx="7406640" cy="658368"/>
          </a:xfrm>
          <a:prstGeom prst="rect">
            <a:avLst/>
          </a:prstGeom>
          <a:solidFill>
            <a:srgbClr val="FCFC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2962656"/>
            <a:ext cx="7150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サポート窓口・対応時間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41248" y="3282696"/>
            <a:ext cx="715060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60120" y="4133088"/>
            <a:ext cx="69037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商談時には、上記▢項目を案件ごとの運用条件に合わせて明示します。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azuma/Documents/n2p-pptx-skill/assets/symbol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37160"/>
            <a:ext cx="82296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80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676A6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お問い合わせ</a:t>
            </a:r>
            <a:endParaRPr lang="en-US" sz="950" dirty="0"/>
          </a:p>
        </p:txBody>
      </p:sp>
      <p:sp>
        <p:nvSpPr>
          <p:cNvPr id="4" name="Shape 1"/>
          <p:cNvSpPr/>
          <p:nvPr/>
        </p:nvSpPr>
        <p:spPr>
          <a:xfrm>
            <a:off x="502920" y="356616"/>
            <a:ext cx="621792" cy="0"/>
          </a:xfrm>
          <a:prstGeom prst="line">
            <a:avLst/>
          </a:prstGeom>
          <a:noFill/>
          <a:ln w="25400">
            <a:solidFill>
              <a:srgbClr val="E8E80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" y="576072"/>
            <a:ext cx="4114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384048"/>
            <a:ext cx="6903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次のレシートキャンペーンを、もっと手軽に。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6032" y="4828032"/>
            <a:ext cx="86319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463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© 2026 NONAME Produce Inc.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48463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60120" y="987552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Aha Receipt Liteで、</a:t>
            </a:r>
            <a:endParaRPr lang="en-US" sz="2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レシート応募キャンペーンをもっと運用しやすく。</a:t>
            </a:r>
            <a:endParaRPr lang="en-US" sz="2100" dirty="0"/>
          </a:p>
        </p:txBody>
      </p:sp>
      <p:sp>
        <p:nvSpPr>
          <p:cNvPr id="11" name="Shape 8"/>
          <p:cNvSpPr/>
          <p:nvPr/>
        </p:nvSpPr>
        <p:spPr>
          <a:xfrm>
            <a:off x="3520440" y="1783080"/>
            <a:ext cx="2103120" cy="0"/>
          </a:xfrm>
          <a:prstGeom prst="line">
            <a:avLst/>
          </a:prstGeom>
          <a:noFill/>
          <a:ln w="38100">
            <a:solidFill>
              <a:srgbClr val="E8E8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41248" y="2240280"/>
            <a:ext cx="2148840" cy="841248"/>
          </a:xfrm>
          <a:prstGeom prst="rect">
            <a:avLst/>
          </a:prstGeom>
          <a:solidFill>
            <a:srgbClr val="F4F400"/>
          </a:solidFill>
          <a:ln w="7620">
            <a:solidFill>
              <a:srgbClr val="F4F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9264" y="2359152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30分デモ予約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969264" y="2679192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▢URL / QR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456432" y="2240280"/>
            <a:ext cx="2148840" cy="841248"/>
          </a:xfrm>
          <a:prstGeom prst="rect">
            <a:avLst/>
          </a:prstGeom>
          <a:solidFill>
            <a:srgbClr val="FCFCFC"/>
          </a:solidFill>
          <a:ln w="762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84448" y="2359152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見積依頼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584448" y="2679192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71616" y="2240280"/>
            <a:ext cx="2148840" cy="841248"/>
          </a:xfrm>
          <a:prstGeom prst="rect">
            <a:avLst/>
          </a:prstGeom>
          <a:solidFill>
            <a:srgbClr val="FCFCFC"/>
          </a:solidFill>
          <a:ln w="7620">
            <a:solidFill>
              <a:srgbClr val="11111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9632" y="2359152"/>
            <a:ext cx="1892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既存運用からの移行相談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199632" y="2679192"/>
            <a:ext cx="1892808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3434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▢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234440" y="3611880"/>
            <a:ext cx="6675120" cy="676656"/>
          </a:xfrm>
          <a:prstGeom prst="rect">
            <a:avLst/>
          </a:prstGeom>
          <a:solidFill>
            <a:srgbClr val="E6EBED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463040" y="3840480"/>
            <a:ext cx="621792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NONAME Produce Inc.／担当▢／連絡先▢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NONAME Produce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Aha Receipt Lite セールスシート</dc:title>
  <dc:subject>Aha Receipt Lite セールスシート</dc:subject>
  <dc:creator>NONAME Produce</dc:creator>
  <cp:lastModifiedBy>NONAME Produce</cp:lastModifiedBy>
  <cp:revision>1</cp:revision>
  <dcterms:created xsi:type="dcterms:W3CDTF">2026-07-08T11:20:22Z</dcterms:created>
  <dcterms:modified xsi:type="dcterms:W3CDTF">2026-07-08T11:20:22Z</dcterms:modified>
</cp:coreProperties>
</file>