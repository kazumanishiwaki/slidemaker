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24384000" cy="13716000"/>
  <p:notesSz cx="6858000" cy="9144000"/>
  <p:embeddedFontLst>
    <p:embeddedFont>
      <p:font typeface="Pretendard JP Bold"/>
    </p:embeddedFont>
    <p:embeddedFont>
      <p:font typeface="Pretendard JP Medium"/>
    </p:embeddedFont>
    <p:embeddedFont>
      <p:font typeface="Pretendard JP SemiBold"/>
    </p:embeddedFont>
    <p:embeddedFont>
      <p:font typeface="Pretendard JP Regular"/>
    </p:embeddedFont>
    <p:embeddedFont>
      <p:font typeface="游ゴシック体"/>
      <p:regular r:id="rId12"/>
      <p:bold r:id="rId12"/>
    </p:embeddedFont>
    <p:embeddedFont>
      <p:font typeface="Arial Unicode MS"/>
      <p:regular r:id="rId13"/>
      <p:bold r:id="rId1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font" Target="fonts/Font_1_&#28216;&#12468;&#12471;&#12483;&#12463;&#20307;_Regular.fntdata"/><Relationship Id="rId13" Type="http://schemas.openxmlformats.org/officeDocument/2006/relationships/font" Target="fonts/Font_2_Arial_Unicode_MS_Regular.fntdata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54DC93AA-FDFE-4BED-BD31-B5913991E3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U-01-0001 | brief.md | SlideHarness Next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BEFEC7-A806-4DE4-9822-1CDC2AA16D0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U-01-0002 | brief.md | SlideHarness Next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12AA3C-3C22-4667-8997-7182C61E5B3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U-01-0003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現状の課題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U-01-0004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現状の課題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U-01-0005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現状の課題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U-01-0006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現状の課題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AE82AA-C24A-4434-B7F9-8D5E8524E0A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U-01-0007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提案する仕組み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U-01-0008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提案する仕組み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U-01-0009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提案する仕組み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U-01-0010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提案する仕組み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U-01-0011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提案する仕組み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4EF4D8-FD26-48A2-AB77-BD470B141DD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U-01-0012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生成フロー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U-01-0013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生成フロー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U-01-0014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生成フロー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U-01-0015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生成フロー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U-01-0016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生成フロー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C57E11-49E3-4EB2-A329-79D8B8B3B17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U-01-0017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品質条件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U-01-0018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品質条件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U-01-0019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品質条件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U-01-0020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品質条件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U-01-0021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品質条件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765ADC-CE9B-4DD6-B12E-E0A6B96926F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U-01-0022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対応する入力形式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U-01-0023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対応する入力形式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B03BB0-4E50-4210-A8D1-67C823CA500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U-01-0024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次のステップ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U-01-0025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次のステップ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U-01-0026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次のステップ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69DEB2-4633-4816-B1D5-D434FCF44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DB601-6E20-41CE-A1AA-1FE44B509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F6459-DBA7-43B2-8A0F-1987A7C7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F90C5-3ADD-43D7-84DC-C4ED096B6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B2863-4672-46C9-BF71-2483DD50ED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ED588-3C99-449D-94EA-94C334124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F2FD6-52DA-40C0-9B25-56D79B1232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4DF70-AE07-4A5C-A459-E0055CBAB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EFBD7-7C46-4D14-8461-D71421E464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E13C5-23F2-47CF-AB84-8FAD54939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91C24-07FC-414C-8D09-3F66F3259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57262-7707-40A5-B998-FD8E804A44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0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slideLayout" Target="../slideLayouts/slideLayout9.xml"/><Relationship Id="rId1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5.png"/><Relationship Id="rId12" Type="http://schemas.openxmlformats.org/officeDocument/2006/relationships/image" Target="../media/image19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slideLayout" Target="../slideLayouts/slideLayout9.xml"/><Relationship Id="rId1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slideLayout" Target="../slideLayouts/slideLayout9.xml"/><Relationship Id="rId1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5.png"/><Relationship Id="rId12" Type="http://schemas.openxmlformats.org/officeDocument/2006/relationships/image" Target="../media/image19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slideLayout" Target="../slideLayouts/slideLayout9.xml"/><Relationship Id="rId1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SHN_SOURCE_CHROME:S001:0"/>
          <p:cNvPicPr/>
          <p:nvPr/>
        </p:nvPicPr>
        <p:blipFill>
          <a:blip r:embed="rId1"/>
          <a:stretch/>
        </p:blipFill>
        <p:spPr>
          <a:xfrm>
            <a:off x="8305920" y="-2438280"/>
            <a:ext cx="19379880" cy="115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SHN_CONTENT:S001:SOURCE_COMPONENT:1"/>
          <p:cNvPicPr/>
          <p:nvPr/>
        </p:nvPicPr>
        <p:blipFill>
          <a:blip r:embed="rId2"/>
          <a:stretch/>
        </p:blipFill>
        <p:spPr>
          <a:xfrm>
            <a:off x="17678520" y="10756800"/>
            <a:ext cx="4330440" cy="18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SHN_CONTENT:S001:source-title"/>
          <p:cNvSpPr/>
          <p:nvPr/>
        </p:nvSpPr>
        <p:spPr>
          <a:xfrm>
            <a:off x="1359000" y="8458200"/>
            <a:ext cx="10705680" cy="29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328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en-US" sz="841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SlideHarness Next</a:t>
            </a:r>
            <a:endParaRPr lang="en-US" sz="8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N_SOURCE_CLEARED:S001:4"/>
          <p:cNvSpPr/>
          <p:nvPr/>
        </p:nvSpPr>
        <p:spPr>
          <a:xfrm>
            <a:off x="1409760" y="11823840"/>
            <a:ext cx="19555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SHN_SOURCE_CHROME:S001:5"/>
          <p:cNvPicPr/>
          <p:nvPr/>
        </p:nvPicPr>
        <p:blipFill>
          <a:blip r:embed="rId3"/>
          <a:stretch/>
        </p:blipFill>
        <p:spPr>
          <a:xfrm>
            <a:off x="1359000" y="7632720"/>
            <a:ext cx="685440" cy="55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SHN_CONTENT:S001:SOURCE_COMPONENT:6"/>
          <p:cNvSpPr/>
          <p:nvPr/>
        </p:nvSpPr>
        <p:spPr>
          <a:xfrm>
            <a:off x="2120760" y="7632720"/>
            <a:ext cx="31111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708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93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93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SHN_CONTENT:S001:SOURCE_COMPONENT:7"/>
          <p:cNvPicPr/>
          <p:nvPr/>
        </p:nvPicPr>
        <p:blipFill>
          <a:blip r:embed="rId4"/>
          <a:stretch/>
        </p:blipFill>
        <p:spPr>
          <a:xfrm>
            <a:off x="3530520" y="11709360"/>
            <a:ext cx="3352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SHN_CONTENT:S001:source-message"/>
          <p:cNvSpPr/>
          <p:nvPr/>
        </p:nvSpPr>
        <p:spPr>
          <a:xfrm>
            <a:off x="3822840" y="11823840"/>
            <a:ext cx="27810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N_SOURCE_CLEARED:S001:10"/>
          <p:cNvSpPr/>
          <p:nvPr/>
        </p:nvSpPr>
        <p:spPr>
          <a:xfrm>
            <a:off x="7048440" y="11823840"/>
            <a:ext cx="22348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N_SOURCE_CLEARED:S001:12"/>
          <p:cNvSpPr/>
          <p:nvPr/>
        </p:nvSpPr>
        <p:spPr>
          <a:xfrm>
            <a:off x="9512280" y="11823840"/>
            <a:ext cx="21715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SHN_SOURCE_CHROME:S002:0"/>
          <p:cNvPicPr/>
          <p:nvPr/>
        </p:nvPicPr>
        <p:blipFill>
          <a:blip r:embed="rId1">
            <a:alphaModFix amt="50000"/>
          </a:blip>
          <a:stretch/>
        </p:blipFill>
        <p:spPr>
          <a:xfrm>
            <a:off x="11861640" y="-4203720"/>
            <a:ext cx="19379880" cy="115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SHN_SOURCE_CHROME:S002:1"/>
          <p:cNvPicPr/>
          <p:nvPr/>
        </p:nvPicPr>
        <p:blipFill>
          <a:blip r:embed="rId2">
            <a:alphaModFix amt="50000"/>
          </a:blip>
          <a:stretch/>
        </p:blipFill>
        <p:spPr>
          <a:xfrm>
            <a:off x="20980440" y="8991720"/>
            <a:ext cx="4330440" cy="18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SHN_SOURCE_CLEARED:S002:2"/>
          <p:cNvSpPr/>
          <p:nvPr/>
        </p:nvSpPr>
        <p:spPr>
          <a:xfrm>
            <a:off x="10985400" y="5168880"/>
            <a:ext cx="2425320" cy="19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091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N_CONTENT:S002:source-title"/>
          <p:cNvSpPr/>
          <p:nvPr/>
        </p:nvSpPr>
        <p:spPr>
          <a:xfrm>
            <a:off x="6400800" y="7099200"/>
            <a:ext cx="1159488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884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619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概要</a:t>
            </a:r>
            <a:endParaRPr lang="en-US" sz="6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N_CONTENT:S002:source-message"/>
          <p:cNvSpPr/>
          <p:nvPr/>
        </p:nvSpPr>
        <p:spPr>
          <a:xfrm>
            <a:off x="7188120" y="8369280"/>
            <a:ext cx="1000728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068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3200" b="0" u="none" strike="noStrike">
                <a:solidFill>
                  <a:srgbClr val="FFFFFF"/>
                </a:solidFill>
                <a:effectLst/>
                <a:uFillTx/>
                <a:latin typeface="Pretendard JP Medium"/>
                <a:ea typeface="Pretendard JP Medium"/>
              </a:rPr>
              <a:t>任意の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Pretendard JP Medium"/>
                <a:ea typeface="Pretendard JP Medium"/>
              </a:rPr>
              <a:t>PowerPoint</a:t>
            </a:r>
            <a:r>
              <a:rPr lang="ja-JP" sz="3200" b="0" u="none" strike="noStrike">
                <a:solidFill>
                  <a:srgbClr val="FFFFFF"/>
                </a:solidFill>
                <a:effectLst/>
                <a:uFillTx/>
                <a:latin typeface="Pretendard JP Medium"/>
                <a:ea typeface="Pretendard JP Medium"/>
              </a:rPr>
              <a:t>テンプレートと原稿から、まとまりのある編集可能な提案資料を生成します。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SHN_SOURCE_CHROME:S003:0"/>
          <p:cNvPicPr/>
          <p:nvPr/>
        </p:nvPicPr>
        <p:blipFill>
          <a:blip r:embed="rId1"/>
          <a:stretch/>
        </p:blipFill>
        <p:spPr>
          <a:xfrm>
            <a:off x="546120" y="507960"/>
            <a:ext cx="2385036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SHN_CONTENT:S003:SOURCE_COMPONENT:1"/>
          <p:cNvPicPr/>
          <p:nvPr/>
        </p:nvPicPr>
        <p:blipFill>
          <a:blip r:embed="rId2"/>
          <a:stretch/>
        </p:blipFill>
        <p:spPr>
          <a:xfrm>
            <a:off x="2413080" y="3149640"/>
            <a:ext cx="5714640" cy="723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SHN_CONTENT:S003:SOURCE_COMPONENT:2"/>
          <p:cNvPicPr/>
          <p:nvPr/>
        </p:nvPicPr>
        <p:blipFill>
          <a:blip r:embed="rId3"/>
          <a:stretch/>
        </p:blipFill>
        <p:spPr>
          <a:xfrm>
            <a:off x="9283680" y="3149640"/>
            <a:ext cx="5714640" cy="723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SHN_CONTENT:S003:SOURCE_COMPONENT:3"/>
          <p:cNvPicPr/>
          <p:nvPr/>
        </p:nvPicPr>
        <p:blipFill>
          <a:blip r:embed="rId4"/>
          <a:stretch/>
        </p:blipFill>
        <p:spPr>
          <a:xfrm>
            <a:off x="16256160" y="3149640"/>
            <a:ext cx="5714640" cy="723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SHN_SOURCE_CHROME:S003:4"/>
          <p:cNvPicPr/>
          <p:nvPr/>
        </p:nvPicPr>
        <p:blipFill>
          <a:blip r:embed="rId5"/>
          <a:stretch/>
        </p:blipFill>
        <p:spPr>
          <a:xfrm rot="5400000">
            <a:off x="8357040" y="6756480"/>
            <a:ext cx="799920" cy="32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SHN_SOURCE_CHROME:S003:5"/>
          <p:cNvPicPr/>
          <p:nvPr/>
        </p:nvPicPr>
        <p:blipFill>
          <a:blip r:embed="rId6"/>
          <a:stretch/>
        </p:blipFill>
        <p:spPr>
          <a:xfrm rot="5400000">
            <a:off x="15202080" y="6756480"/>
            <a:ext cx="799920" cy="32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SHN_SOURCE_CHROME:S003:6"/>
          <p:cNvPicPr/>
          <p:nvPr/>
        </p:nvPicPr>
        <p:blipFill>
          <a:blip r:embed="rId7">
            <a:alphaModFix amt="20000"/>
          </a:blip>
          <a:stretch/>
        </p:blipFill>
        <p:spPr>
          <a:xfrm>
            <a:off x="9321840" y="5651640"/>
            <a:ext cx="5625720" cy="6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SHN_CONTENT:S003:source-item-2-heading"/>
          <p:cNvSpPr/>
          <p:nvPr/>
        </p:nvSpPr>
        <p:spPr>
          <a:xfrm>
            <a:off x="9944280" y="4775040"/>
            <a:ext cx="31492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708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93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1</a:t>
            </a:r>
            <a:r>
              <a:rPr lang="ja-JP" sz="293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ページの情報量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N_CONTENT:S003:source-item-2-number"/>
          <p:cNvSpPr/>
          <p:nvPr/>
        </p:nvSpPr>
        <p:spPr>
          <a:xfrm>
            <a:off x="9944280" y="3797280"/>
            <a:ext cx="176508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59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597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02</a:t>
            </a:r>
            <a:endParaRPr lang="en-US" sz="5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N_CONTENT:S003:source-item-2-body"/>
          <p:cNvSpPr/>
          <p:nvPr/>
        </p:nvSpPr>
        <p:spPr>
          <a:xfrm>
            <a:off x="9944280" y="609588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1</a:t>
            </a:r>
            <a:r>
              <a:rPr lang="ja-JP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ページの情報量が少なすぎると、意味のない空白や巨大なカードが残ります。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N_SOURCE_CLEARED:S003:10"/>
          <p:cNvSpPr/>
          <p:nvPr/>
        </p:nvSpPr>
        <p:spPr>
          <a:xfrm>
            <a:off x="9944280" y="736596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N_SOURCE_CLEARED:S003:11"/>
          <p:cNvSpPr/>
          <p:nvPr/>
        </p:nvSpPr>
        <p:spPr>
          <a:xfrm>
            <a:off x="9944280" y="862344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SHN_CONTENT:S003:SOURCE_COMPONENT:12"/>
          <p:cNvPicPr/>
          <p:nvPr/>
        </p:nvPicPr>
        <p:blipFill>
          <a:blip r:embed="rId8"/>
          <a:stretch/>
        </p:blipFill>
        <p:spPr>
          <a:xfrm>
            <a:off x="13106520" y="392436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SHN_CONTENT:S003:SOURCE_COMPONENT:13"/>
          <p:cNvPicPr/>
          <p:nvPr/>
        </p:nvPicPr>
        <p:blipFill>
          <a:blip r:embed="rId9"/>
          <a:stretch/>
        </p:blipFill>
        <p:spPr>
          <a:xfrm>
            <a:off x="13271400" y="4089240"/>
            <a:ext cx="1041120" cy="104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SHN_SOURCE_CHROME:S003:14"/>
          <p:cNvPicPr/>
          <p:nvPr/>
        </p:nvPicPr>
        <p:blipFill>
          <a:blip r:embed="rId10">
            <a:alphaModFix amt="20000"/>
          </a:blip>
          <a:stretch/>
        </p:blipFill>
        <p:spPr>
          <a:xfrm>
            <a:off x="16306920" y="5651640"/>
            <a:ext cx="5625720" cy="6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SHN_CONTENT:S003:source-item-3-heading"/>
          <p:cNvSpPr/>
          <p:nvPr/>
        </p:nvSpPr>
        <p:spPr>
          <a:xfrm>
            <a:off x="16929000" y="4775040"/>
            <a:ext cx="31492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708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93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グラフやフロー図を画像化すると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N_CONTENT:S003:source-item-3-number"/>
          <p:cNvSpPr/>
          <p:nvPr/>
        </p:nvSpPr>
        <p:spPr>
          <a:xfrm>
            <a:off x="16916400" y="3797280"/>
            <a:ext cx="176508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59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597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03</a:t>
            </a:r>
            <a:endParaRPr lang="en-US" sz="5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N_CONTENT:S003:source-item-3-body"/>
          <p:cNvSpPr/>
          <p:nvPr/>
        </p:nvSpPr>
        <p:spPr>
          <a:xfrm>
            <a:off x="16916400" y="609588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ja-JP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グラフやフロー図を画像化すると、</a:t>
            </a:r>
            <a:r>
              <a:rPr lang="en-US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PowerPoint</a:t>
            </a:r>
            <a:r>
              <a:rPr lang="ja-JP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上で数値やラベルを修正できません。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N_SOURCE_CLEARED:S003:18"/>
          <p:cNvSpPr/>
          <p:nvPr/>
        </p:nvSpPr>
        <p:spPr>
          <a:xfrm>
            <a:off x="16916400" y="736596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N_SOURCE_CLEARED:S003:19"/>
          <p:cNvSpPr/>
          <p:nvPr/>
        </p:nvSpPr>
        <p:spPr>
          <a:xfrm>
            <a:off x="16916400" y="862344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SHN_CONTENT:S003:SOURCE_COMPONENT:20"/>
          <p:cNvPicPr/>
          <p:nvPr/>
        </p:nvPicPr>
        <p:blipFill>
          <a:blip r:embed="rId11"/>
          <a:stretch/>
        </p:blipFill>
        <p:spPr>
          <a:xfrm>
            <a:off x="20078640" y="392436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SHN_CONTENT:S003:SOURCE_COMPONENT:21"/>
          <p:cNvPicPr/>
          <p:nvPr/>
        </p:nvPicPr>
        <p:blipFill>
          <a:blip r:embed="rId12"/>
          <a:stretch/>
        </p:blipFill>
        <p:spPr>
          <a:xfrm>
            <a:off x="20231280" y="4089240"/>
            <a:ext cx="1053720" cy="105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SHN_SOURCE_CHROME:S003:22"/>
          <p:cNvPicPr/>
          <p:nvPr/>
        </p:nvPicPr>
        <p:blipFill>
          <a:blip r:embed="rId13">
            <a:alphaModFix amt="20000"/>
          </a:blip>
          <a:stretch/>
        </p:blipFill>
        <p:spPr>
          <a:xfrm>
            <a:off x="2451240" y="5651640"/>
            <a:ext cx="5625720" cy="6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SHN_CONTENT:S003:source-item-1-heading"/>
          <p:cNvSpPr/>
          <p:nvPr/>
        </p:nvSpPr>
        <p:spPr>
          <a:xfrm>
            <a:off x="3086280" y="4775040"/>
            <a:ext cx="31492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708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93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テンプレートを使っても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N_CONTENT:S003:source-item-1-number"/>
          <p:cNvSpPr/>
          <p:nvPr/>
        </p:nvSpPr>
        <p:spPr>
          <a:xfrm>
            <a:off x="3073320" y="3797280"/>
            <a:ext cx="176508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59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597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01</a:t>
            </a:r>
            <a:endParaRPr lang="en-US" sz="5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N_CONTENT:S003:source-item-1-body"/>
          <p:cNvSpPr/>
          <p:nvPr/>
        </p:nvSpPr>
        <p:spPr>
          <a:xfrm>
            <a:off x="3073320" y="609588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ja-JP" sz="226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テンプレートを使っても、完成スライド上の装飾が失われることがあります。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N_SOURCE_CLEARED:S003:26"/>
          <p:cNvSpPr/>
          <p:nvPr/>
        </p:nvSpPr>
        <p:spPr>
          <a:xfrm>
            <a:off x="3073320" y="736596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N_SOURCE_CLEARED:S003:27"/>
          <p:cNvSpPr/>
          <p:nvPr/>
        </p:nvSpPr>
        <p:spPr>
          <a:xfrm>
            <a:off x="3073320" y="8623440"/>
            <a:ext cx="44953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SHN_CONTENT:S003:SOURCE_COMPONENT:28"/>
          <p:cNvPicPr/>
          <p:nvPr/>
        </p:nvPicPr>
        <p:blipFill>
          <a:blip r:embed="rId14"/>
          <a:stretch/>
        </p:blipFill>
        <p:spPr>
          <a:xfrm>
            <a:off x="6235560" y="392436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SHN_CONTENT:S003:SOURCE_COMPONENT:29"/>
          <p:cNvPicPr/>
          <p:nvPr/>
        </p:nvPicPr>
        <p:blipFill>
          <a:blip r:embed="rId15"/>
          <a:stretch/>
        </p:blipFill>
        <p:spPr>
          <a:xfrm>
            <a:off x="6400800" y="4089240"/>
            <a:ext cx="1041120" cy="104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SHN_CONTENT:S003:source-title"/>
          <p:cNvSpPr/>
          <p:nvPr/>
        </p:nvSpPr>
        <p:spPr>
          <a:xfrm>
            <a:off x="2590920" y="901800"/>
            <a:ext cx="143632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24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3090" b="0" u="none" strike="noStrike">
                <a:solidFill>
                  <a:srgbClr val="000000"/>
                </a:solidFill>
                <a:effectLst/>
                <a:uFillTx/>
                <a:latin typeface="Pretendard JP SemiBold"/>
                <a:ea typeface="Pretendard JP SemiBold"/>
              </a:rPr>
              <a:t>現状の課題</a:t>
            </a:r>
            <a:endParaRPr lang="en-US" sz="3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N_CONTENT:S003:source-message"/>
          <p:cNvSpPr/>
          <p:nvPr/>
        </p:nvSpPr>
        <p:spPr>
          <a:xfrm>
            <a:off x="2590920" y="1409760"/>
            <a:ext cx="143251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00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テンプレートを使っても、完成スライド上の装飾が失われることがあります。</a:t>
            </a:r>
            <a:endParaRPr lang="en-US" sz="2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N_CONTENT:S003:source-page-number"/>
          <p:cNvSpPr/>
          <p:nvPr/>
        </p:nvSpPr>
        <p:spPr>
          <a:xfrm>
            <a:off x="876240" y="787320"/>
            <a:ext cx="13968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7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61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03</a:t>
            </a:r>
            <a:endParaRPr lang="en-US" sz="6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SHN_SOURCE_CHROME:S003:33"/>
          <p:cNvPicPr/>
          <p:nvPr/>
        </p:nvPicPr>
        <p:blipFill>
          <a:blip r:embed="rId16"/>
          <a:stretch/>
        </p:blipFill>
        <p:spPr>
          <a:xfrm>
            <a:off x="20294640" y="1143000"/>
            <a:ext cx="60912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SHN_SOURCE_CHROME:S003:34"/>
          <p:cNvSpPr/>
          <p:nvPr/>
        </p:nvSpPr>
        <p:spPr>
          <a:xfrm>
            <a:off x="20967840" y="1155600"/>
            <a:ext cx="2730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7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N_SOURCE_CLEARED:S003:36"/>
          <p:cNvSpPr/>
          <p:nvPr/>
        </p:nvSpPr>
        <p:spPr>
          <a:xfrm>
            <a:off x="5435640" y="11188800"/>
            <a:ext cx="1349964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SHN_SOURCE_CHROME:S004:0"/>
          <p:cNvPicPr/>
          <p:nvPr/>
        </p:nvPicPr>
        <p:blipFill>
          <a:blip r:embed="rId1"/>
          <a:stretch/>
        </p:blipFill>
        <p:spPr>
          <a:xfrm>
            <a:off x="546120" y="507960"/>
            <a:ext cx="2385036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SHN_CONTENT:S004:SOURCE_COMPONENT:1"/>
          <p:cNvPicPr/>
          <p:nvPr/>
        </p:nvPicPr>
        <p:blipFill>
          <a:blip r:embed="rId2"/>
          <a:stretch/>
        </p:blipFill>
        <p:spPr>
          <a:xfrm>
            <a:off x="17564040" y="38606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SHN_CONTENT:S004:source-item-2-body"/>
          <p:cNvSpPr/>
          <p:nvPr/>
        </p:nvSpPr>
        <p:spPr>
          <a:xfrm>
            <a:off x="17945280" y="54864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原稿を主張、根拠、数値、条件、注意事項へ分類します。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SHN_SOURCE_CHROME:S004:3"/>
          <p:cNvPicPr/>
          <p:nvPr/>
        </p:nvPicPr>
        <p:blipFill>
          <a:blip r:embed="rId3"/>
          <a:stretch/>
        </p:blipFill>
        <p:spPr>
          <a:xfrm>
            <a:off x="19697760" y="43815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SHN_CONTENT:S004:source-item-2-heading"/>
          <p:cNvSpPr/>
          <p:nvPr/>
        </p:nvSpPr>
        <p:spPr>
          <a:xfrm>
            <a:off x="18859680" y="482616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原稿を主張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N_CONTENT:S004:source-item-2-number"/>
          <p:cNvSpPr/>
          <p:nvPr/>
        </p:nvSpPr>
        <p:spPr>
          <a:xfrm>
            <a:off x="19672200" y="44067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SHN_CONTENT:S004:SOURCE_COMPONENT:6"/>
          <p:cNvPicPr/>
          <p:nvPr/>
        </p:nvPicPr>
        <p:blipFill>
          <a:blip r:embed="rId4"/>
          <a:stretch/>
        </p:blipFill>
        <p:spPr>
          <a:xfrm>
            <a:off x="12230280" y="3657600"/>
            <a:ext cx="4000320" cy="400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SHN_CONTENT:S004:SOURCE_COMPONENT:7"/>
          <p:cNvPicPr/>
          <p:nvPr/>
        </p:nvPicPr>
        <p:blipFill>
          <a:blip r:embed="rId5"/>
          <a:stretch/>
        </p:blipFill>
        <p:spPr>
          <a:xfrm rot="10800000">
            <a:off x="8153640" y="7721640"/>
            <a:ext cx="4000320" cy="400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SHN_CONTENT:S004:SOURCE_COMPONENT:8"/>
          <p:cNvPicPr/>
          <p:nvPr/>
        </p:nvPicPr>
        <p:blipFill>
          <a:blip r:embed="rId6"/>
          <a:stretch/>
        </p:blipFill>
        <p:spPr>
          <a:xfrm>
            <a:off x="13538160" y="5092560"/>
            <a:ext cx="125712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SHN_CONTENT:S004:SOURCE_COMPONENT:9"/>
          <p:cNvPicPr/>
          <p:nvPr/>
        </p:nvPicPr>
        <p:blipFill>
          <a:blip r:embed="rId7"/>
          <a:stretch/>
        </p:blipFill>
        <p:spPr>
          <a:xfrm>
            <a:off x="9550440" y="8991720"/>
            <a:ext cx="1333080" cy="133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SHN_CONTENT:S004:source-title"/>
          <p:cNvSpPr/>
          <p:nvPr/>
        </p:nvSpPr>
        <p:spPr>
          <a:xfrm>
            <a:off x="2590920" y="901800"/>
            <a:ext cx="143632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24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309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提案する仕組み</a:t>
            </a:r>
            <a:endParaRPr lang="en-US" sz="3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N_CONTENT:S004:source-message"/>
          <p:cNvSpPr/>
          <p:nvPr/>
        </p:nvSpPr>
        <p:spPr>
          <a:xfrm>
            <a:off x="2590920" y="1409760"/>
            <a:ext cx="143251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00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テンプレートを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Tokens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Chrome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Components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Pattern Evidence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へ分解します。</a:t>
            </a:r>
            <a:endParaRPr lang="en-US" sz="2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N_CONTENT:S004:source-page-number"/>
          <p:cNvSpPr/>
          <p:nvPr/>
        </p:nvSpPr>
        <p:spPr>
          <a:xfrm>
            <a:off x="876240" y="787320"/>
            <a:ext cx="13968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7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61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04</a:t>
            </a:r>
            <a:endParaRPr lang="en-US" sz="6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SHN_SOURCE_CHROME:S004:13"/>
          <p:cNvPicPr/>
          <p:nvPr/>
        </p:nvPicPr>
        <p:blipFill>
          <a:blip r:embed="rId8"/>
          <a:stretch/>
        </p:blipFill>
        <p:spPr>
          <a:xfrm>
            <a:off x="20294640" y="1143000"/>
            <a:ext cx="60912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SHN_SOURCE_CHROME:S004:14"/>
          <p:cNvSpPr/>
          <p:nvPr/>
        </p:nvSpPr>
        <p:spPr>
          <a:xfrm>
            <a:off x="20967840" y="1155600"/>
            <a:ext cx="2730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7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SHN_CONTENT:S004:SOURCE_COMPONENT:15"/>
          <p:cNvPicPr/>
          <p:nvPr/>
        </p:nvPicPr>
        <p:blipFill>
          <a:blip r:embed="rId9"/>
          <a:stretch/>
        </p:blipFill>
        <p:spPr>
          <a:xfrm>
            <a:off x="2006640" y="38606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N_CONTENT:S004:source-item-1-body"/>
          <p:cNvSpPr/>
          <p:nvPr/>
        </p:nvSpPr>
        <p:spPr>
          <a:xfrm>
            <a:off x="2400480" y="54864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テンプレートを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Tokens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Chrome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Components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Pattern Evidence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へ分解します。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SHN_SOURCE_CHROME:S004:17"/>
          <p:cNvPicPr/>
          <p:nvPr/>
        </p:nvPicPr>
        <p:blipFill>
          <a:blip r:embed="rId10"/>
          <a:stretch/>
        </p:blipFill>
        <p:spPr>
          <a:xfrm>
            <a:off x="4140360" y="43815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SHN_CONTENT:S004:source-item-1-heading"/>
          <p:cNvSpPr/>
          <p:nvPr/>
        </p:nvSpPr>
        <p:spPr>
          <a:xfrm>
            <a:off x="3314880" y="482616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テンプレートを</a:t>
            </a:r>
            <a:r>
              <a:rPr lang="en-US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Tokens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N_CONTENT:S004:source-item-1-number"/>
          <p:cNvSpPr/>
          <p:nvPr/>
        </p:nvSpPr>
        <p:spPr>
          <a:xfrm>
            <a:off x="4114800" y="44067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SHN_CONTENT:S004:SOURCE_COMPONENT:20"/>
          <p:cNvPicPr/>
          <p:nvPr/>
        </p:nvPicPr>
        <p:blipFill>
          <a:blip r:embed="rId11"/>
          <a:stretch/>
        </p:blipFill>
        <p:spPr>
          <a:xfrm>
            <a:off x="2006640" y="79628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SHN_CONTENT:S004:source-item-3-body"/>
          <p:cNvSpPr/>
          <p:nvPr/>
        </p:nvSpPr>
        <p:spPr>
          <a:xfrm>
            <a:off x="2400480" y="95886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内容量に合う具体的な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Slide Recipe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を選択します。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SHN_SOURCE_CHROME:S004:22"/>
          <p:cNvPicPr/>
          <p:nvPr/>
        </p:nvPicPr>
        <p:blipFill>
          <a:blip r:embed="rId12"/>
          <a:stretch/>
        </p:blipFill>
        <p:spPr>
          <a:xfrm>
            <a:off x="4140360" y="84837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SHN_CONTENT:S004:source-item-3-heading"/>
          <p:cNvSpPr/>
          <p:nvPr/>
        </p:nvSpPr>
        <p:spPr>
          <a:xfrm>
            <a:off x="3314880" y="892800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Slide Recipe</a:t>
            </a: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を選択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N_CONTENT:S004:source-item-3-number"/>
          <p:cNvSpPr/>
          <p:nvPr/>
        </p:nvSpPr>
        <p:spPr>
          <a:xfrm>
            <a:off x="4114800" y="84963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SHN_CONTENT:S004:SOURCE_COMPONENT:25"/>
          <p:cNvPicPr/>
          <p:nvPr/>
        </p:nvPicPr>
        <p:blipFill>
          <a:blip r:embed="rId13"/>
          <a:stretch/>
        </p:blipFill>
        <p:spPr>
          <a:xfrm>
            <a:off x="17564040" y="79628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SHN_CONTENT:S004:source-item-4-body"/>
          <p:cNvSpPr/>
          <p:nvPr/>
        </p:nvSpPr>
        <p:spPr>
          <a:xfrm>
            <a:off x="17945280" y="95886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画像生成はスロットと役割を決めてから実行します。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SHN_SOURCE_CHROME:S004:27"/>
          <p:cNvPicPr/>
          <p:nvPr/>
        </p:nvPicPr>
        <p:blipFill>
          <a:blip r:embed="rId14"/>
          <a:stretch/>
        </p:blipFill>
        <p:spPr>
          <a:xfrm>
            <a:off x="19697760" y="84837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SHN_CONTENT:S004:source-item-4-heading"/>
          <p:cNvSpPr/>
          <p:nvPr/>
        </p:nvSpPr>
        <p:spPr>
          <a:xfrm>
            <a:off x="18859680" y="892800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画像生成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N_CONTENT:S004:source-item-4-number"/>
          <p:cNvSpPr/>
          <p:nvPr/>
        </p:nvSpPr>
        <p:spPr>
          <a:xfrm>
            <a:off x="19672200" y="84963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SHN_SOURCE_CHROME:S005:0"/>
          <p:cNvPicPr/>
          <p:nvPr/>
        </p:nvPicPr>
        <p:blipFill>
          <a:blip r:embed="rId1"/>
          <a:stretch/>
        </p:blipFill>
        <p:spPr>
          <a:xfrm>
            <a:off x="546120" y="507960"/>
            <a:ext cx="2385036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SHN_CONTENT:S005:SOURCE_COMPONENT:1"/>
          <p:cNvPicPr/>
          <p:nvPr/>
        </p:nvPicPr>
        <p:blipFill>
          <a:blip r:embed="rId2"/>
          <a:stretch/>
        </p:blipFill>
        <p:spPr>
          <a:xfrm>
            <a:off x="584280" y="4795560"/>
            <a:ext cx="23316840" cy="10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N_CONTENT:S005:source-title"/>
          <p:cNvSpPr/>
          <p:nvPr/>
        </p:nvSpPr>
        <p:spPr>
          <a:xfrm>
            <a:off x="2590920" y="901800"/>
            <a:ext cx="143632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24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3090" b="0" u="none" strike="noStrike">
                <a:solidFill>
                  <a:srgbClr val="000000"/>
                </a:solidFill>
                <a:effectLst/>
                <a:uFillTx/>
                <a:latin typeface="Pretendard JP SemiBold"/>
                <a:ea typeface="Pretendard JP SemiBold"/>
              </a:rPr>
              <a:t>生成フロー</a:t>
            </a:r>
            <a:endParaRPr lang="en-US" sz="3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N_CONTENT:S005:source-message"/>
          <p:cNvSpPr/>
          <p:nvPr/>
        </p:nvSpPr>
        <p:spPr>
          <a:xfrm>
            <a:off x="2590920" y="1409760"/>
            <a:ext cx="143251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00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原稿とテンプレートを解析します。</a:t>
            </a:r>
            <a:endParaRPr lang="en-US" sz="2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N_CONTENT:S005:source-page-number"/>
          <p:cNvSpPr/>
          <p:nvPr/>
        </p:nvSpPr>
        <p:spPr>
          <a:xfrm>
            <a:off x="876240" y="787320"/>
            <a:ext cx="13968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7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61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05</a:t>
            </a:r>
            <a:endParaRPr lang="en-US" sz="6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SHN_SOURCE_CHROME:S005:5"/>
          <p:cNvPicPr/>
          <p:nvPr/>
        </p:nvPicPr>
        <p:blipFill>
          <a:blip r:embed="rId3"/>
          <a:stretch/>
        </p:blipFill>
        <p:spPr>
          <a:xfrm>
            <a:off x="20294640" y="1143000"/>
            <a:ext cx="60912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SHN_SOURCE_CHROME:S005:6"/>
          <p:cNvSpPr/>
          <p:nvPr/>
        </p:nvSpPr>
        <p:spPr>
          <a:xfrm>
            <a:off x="20967840" y="1155600"/>
            <a:ext cx="2730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7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SHN_SOURCE_CHROME:S005:7"/>
          <p:cNvPicPr/>
          <p:nvPr/>
        </p:nvPicPr>
        <p:blipFill>
          <a:blip r:embed="rId4">
            <a:alphaModFix amt="20000"/>
          </a:blip>
          <a:stretch/>
        </p:blipFill>
        <p:spPr>
          <a:xfrm rot="16200000">
            <a:off x="1866960" y="4961160"/>
            <a:ext cx="1383840" cy="5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SHN_CONTENT:S005:SOURCE_COMPONENT:8"/>
          <p:cNvPicPr/>
          <p:nvPr/>
        </p:nvPicPr>
        <p:blipFill>
          <a:blip r:embed="rId5"/>
          <a:stretch/>
        </p:blipFill>
        <p:spPr>
          <a:xfrm>
            <a:off x="2311560" y="5316120"/>
            <a:ext cx="4508280" cy="58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SHN_CONTENT:S005:source-step-1-heading"/>
          <p:cNvSpPr/>
          <p:nvPr/>
        </p:nvSpPr>
        <p:spPr>
          <a:xfrm>
            <a:off x="2819520" y="7360920"/>
            <a:ext cx="37717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原稿とテンプレートを解析します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N_SOURCE_CLEARED:S005:11"/>
          <p:cNvSpPr/>
          <p:nvPr/>
        </p:nvSpPr>
        <p:spPr>
          <a:xfrm>
            <a:off x="2819520" y="8351640"/>
            <a:ext cx="375876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N_SOURCE_CLEARED:S005:12"/>
          <p:cNvSpPr/>
          <p:nvPr/>
        </p:nvSpPr>
        <p:spPr>
          <a:xfrm>
            <a:off x="2819520" y="9342000"/>
            <a:ext cx="377172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N_CONTENT:S005:source-step-1-number"/>
          <p:cNvSpPr/>
          <p:nvPr/>
        </p:nvSpPr>
        <p:spPr>
          <a:xfrm>
            <a:off x="3009960" y="6014880"/>
            <a:ext cx="293328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80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01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SHN_SOURCE_CHROME:S005:13"/>
          <p:cNvPicPr/>
          <p:nvPr/>
        </p:nvPicPr>
        <p:blipFill>
          <a:blip r:embed="rId6">
            <a:alphaModFix amt="20000"/>
          </a:blip>
          <a:stretch/>
        </p:blipFill>
        <p:spPr>
          <a:xfrm>
            <a:off x="2540160" y="7018200"/>
            <a:ext cx="4228920" cy="6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SHN_SOURCE_CHROME:S005:14"/>
          <p:cNvPicPr/>
          <p:nvPr/>
        </p:nvPicPr>
        <p:blipFill>
          <a:blip r:embed="rId7">
            <a:alphaModFix amt="20000"/>
          </a:blip>
          <a:stretch/>
        </p:blipFill>
        <p:spPr>
          <a:xfrm rot="16200000">
            <a:off x="7010280" y="4961160"/>
            <a:ext cx="1383840" cy="5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SHN_CONTENT:S005:SOURCE_COMPONENT:15"/>
          <p:cNvPicPr/>
          <p:nvPr/>
        </p:nvPicPr>
        <p:blipFill>
          <a:blip r:embed="rId8"/>
          <a:stretch/>
        </p:blipFill>
        <p:spPr>
          <a:xfrm>
            <a:off x="7454880" y="5316120"/>
            <a:ext cx="4508280" cy="58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SHN_CONTENT:S005:source-step-2-heading"/>
          <p:cNvSpPr/>
          <p:nvPr/>
        </p:nvSpPr>
        <p:spPr>
          <a:xfrm>
            <a:off x="7975440" y="7360920"/>
            <a:ext cx="37717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全情報単位の採用先を</a:t>
            </a:r>
            <a:r>
              <a:rPr lang="en-US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Cover…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N_CONTENT:S005:source-step-2-body"/>
          <p:cNvSpPr/>
          <p:nvPr/>
        </p:nvSpPr>
        <p:spPr>
          <a:xfrm>
            <a:off x="7975440" y="8351640"/>
            <a:ext cx="375876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全情報単位の採用先を</a:t>
            </a:r>
            <a:r>
              <a:rPr lang="en-US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Coverage Map</a:t>
            </a: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で決めます。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N_SOURCE_CLEARED:S005:20"/>
          <p:cNvSpPr/>
          <p:nvPr/>
        </p:nvSpPr>
        <p:spPr>
          <a:xfrm>
            <a:off x="7975440" y="9342000"/>
            <a:ext cx="377172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N_CONTENT:S005:source-step-2-number"/>
          <p:cNvSpPr/>
          <p:nvPr/>
        </p:nvSpPr>
        <p:spPr>
          <a:xfrm>
            <a:off x="8153280" y="6014880"/>
            <a:ext cx="293328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80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02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SHN_SOURCE_CHROME:S005:20"/>
          <p:cNvPicPr/>
          <p:nvPr/>
        </p:nvPicPr>
        <p:blipFill>
          <a:blip r:embed="rId9">
            <a:alphaModFix amt="20000"/>
          </a:blip>
          <a:stretch/>
        </p:blipFill>
        <p:spPr>
          <a:xfrm>
            <a:off x="7683480" y="7018200"/>
            <a:ext cx="4228920" cy="6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SHN_SOURCE_CHROME:S005:21"/>
          <p:cNvPicPr/>
          <p:nvPr/>
        </p:nvPicPr>
        <p:blipFill>
          <a:blip r:embed="rId10">
            <a:alphaModFix amt="20000"/>
          </a:blip>
          <a:stretch/>
        </p:blipFill>
        <p:spPr>
          <a:xfrm rot="16200000">
            <a:off x="12153960" y="4961160"/>
            <a:ext cx="1383840" cy="5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SHN_CONTENT:S005:SOURCE_COMPONENT:22"/>
          <p:cNvPicPr/>
          <p:nvPr/>
        </p:nvPicPr>
        <p:blipFill>
          <a:blip r:embed="rId11"/>
          <a:stretch/>
        </p:blipFill>
        <p:spPr>
          <a:xfrm>
            <a:off x="12598560" y="5316120"/>
            <a:ext cx="4508280" cy="58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SHN_CONTENT:S005:source-step-3-heading"/>
          <p:cNvSpPr/>
          <p:nvPr/>
        </p:nvSpPr>
        <p:spPr>
          <a:xfrm>
            <a:off x="13119120" y="7360920"/>
            <a:ext cx="37717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代表</a:t>
            </a:r>
            <a:r>
              <a:rPr lang="en-US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3</a:t>
            </a: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ページを生成し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N_CONTENT:S005:source-step-3-body"/>
          <p:cNvSpPr/>
          <p:nvPr/>
        </p:nvSpPr>
        <p:spPr>
          <a:xfrm>
            <a:off x="13119120" y="8351640"/>
            <a:ext cx="375876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代表</a:t>
            </a:r>
            <a:r>
              <a:rPr lang="en-US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3</a:t>
            </a: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ページを生成し、テンプレートらしさと密度を確認します。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N_SOURCE_CLEARED:S005:28"/>
          <p:cNvSpPr/>
          <p:nvPr/>
        </p:nvSpPr>
        <p:spPr>
          <a:xfrm>
            <a:off x="13119120" y="9342000"/>
            <a:ext cx="377172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N_CONTENT:S005:source-step-3-number"/>
          <p:cNvSpPr/>
          <p:nvPr/>
        </p:nvSpPr>
        <p:spPr>
          <a:xfrm>
            <a:off x="13296960" y="6014880"/>
            <a:ext cx="293328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80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03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SHN_SOURCE_CHROME:S005:27"/>
          <p:cNvPicPr/>
          <p:nvPr/>
        </p:nvPicPr>
        <p:blipFill>
          <a:blip r:embed="rId12">
            <a:alphaModFix amt="20000"/>
          </a:blip>
          <a:stretch/>
        </p:blipFill>
        <p:spPr>
          <a:xfrm>
            <a:off x="12827160" y="7018200"/>
            <a:ext cx="4228920" cy="6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SHN_SOURCE_CHROME:S005:28"/>
          <p:cNvPicPr/>
          <p:nvPr/>
        </p:nvPicPr>
        <p:blipFill>
          <a:blip r:embed="rId13">
            <a:alphaModFix amt="20000"/>
          </a:blip>
          <a:stretch/>
        </p:blipFill>
        <p:spPr>
          <a:xfrm rot="16200000">
            <a:off x="17297280" y="4961160"/>
            <a:ext cx="1383840" cy="5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SHN_CONTENT:S005:SOURCE_COMPONENT:29"/>
          <p:cNvPicPr/>
          <p:nvPr/>
        </p:nvPicPr>
        <p:blipFill>
          <a:blip r:embed="rId14"/>
          <a:stretch/>
        </p:blipFill>
        <p:spPr>
          <a:xfrm>
            <a:off x="17754480" y="5316120"/>
            <a:ext cx="4508280" cy="58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SHN_CONTENT:S005:source-step-4-heading"/>
          <p:cNvSpPr/>
          <p:nvPr/>
        </p:nvSpPr>
        <p:spPr>
          <a:xfrm>
            <a:off x="18262440" y="7360920"/>
            <a:ext cx="37717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承認後に全ページを生成し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N_CONTENT:S005:source-step-4-body"/>
          <p:cNvSpPr/>
          <p:nvPr/>
        </p:nvSpPr>
        <p:spPr>
          <a:xfrm>
            <a:off x="18262440" y="8351640"/>
            <a:ext cx="375876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承認後に全ページを生成し、実レンダリング</a:t>
            </a:r>
            <a:r>
              <a:rPr lang="en-US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QA</a:t>
            </a: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を行います。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N_SOURCE_CLEARED:S005:37"/>
          <p:cNvSpPr/>
          <p:nvPr/>
        </p:nvSpPr>
        <p:spPr>
          <a:xfrm>
            <a:off x="18262440" y="9342000"/>
            <a:ext cx="377172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N_CONTENT:S005:source-step-4-number"/>
          <p:cNvSpPr/>
          <p:nvPr/>
        </p:nvSpPr>
        <p:spPr>
          <a:xfrm>
            <a:off x="18440280" y="6014880"/>
            <a:ext cx="293328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80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04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SHN_SOURCE_CHROME:S005:34"/>
          <p:cNvPicPr/>
          <p:nvPr/>
        </p:nvPicPr>
        <p:blipFill>
          <a:blip r:embed="rId15">
            <a:alphaModFix amt="20000"/>
          </a:blip>
          <a:stretch/>
        </p:blipFill>
        <p:spPr>
          <a:xfrm>
            <a:off x="17970480" y="7018200"/>
            <a:ext cx="4228920" cy="6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SHN_SOURCE_CHROME:S006:0"/>
          <p:cNvPicPr/>
          <p:nvPr/>
        </p:nvPicPr>
        <p:blipFill>
          <a:blip r:embed="rId1"/>
          <a:stretch/>
        </p:blipFill>
        <p:spPr>
          <a:xfrm>
            <a:off x="546120" y="507960"/>
            <a:ext cx="2385036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SHN_CONTENT:S006:SOURCE_COMPONENT:1"/>
          <p:cNvPicPr/>
          <p:nvPr/>
        </p:nvPicPr>
        <p:blipFill>
          <a:blip r:embed="rId2"/>
          <a:stretch/>
        </p:blipFill>
        <p:spPr>
          <a:xfrm>
            <a:off x="17564040" y="38606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SHN_CONTENT:S006:source-item-2-body"/>
          <p:cNvSpPr/>
          <p:nvPr/>
        </p:nvSpPr>
        <p:spPr>
          <a:xfrm>
            <a:off x="17945280" y="54864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説明できない連続空白が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35%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を超えるページは出力を停止します。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SHN_SOURCE_CHROME:S006:3"/>
          <p:cNvPicPr/>
          <p:nvPr/>
        </p:nvPicPr>
        <p:blipFill>
          <a:blip r:embed="rId3"/>
          <a:stretch/>
        </p:blipFill>
        <p:spPr>
          <a:xfrm>
            <a:off x="19697760" y="43815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SHN_CONTENT:S006:source-item-2-heading"/>
          <p:cNvSpPr/>
          <p:nvPr/>
        </p:nvSpPr>
        <p:spPr>
          <a:xfrm>
            <a:off x="18859680" y="482616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連続空白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N_CONTENT:S006:source-item-2-number"/>
          <p:cNvSpPr/>
          <p:nvPr/>
        </p:nvSpPr>
        <p:spPr>
          <a:xfrm>
            <a:off x="19672200" y="44067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SHN_CONTENT:S006:SOURCE_COMPONENT:6"/>
          <p:cNvPicPr/>
          <p:nvPr/>
        </p:nvPicPr>
        <p:blipFill>
          <a:blip r:embed="rId4"/>
          <a:stretch/>
        </p:blipFill>
        <p:spPr>
          <a:xfrm>
            <a:off x="12230280" y="3657600"/>
            <a:ext cx="4000320" cy="400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SHN_CONTENT:S006:SOURCE_COMPONENT:7"/>
          <p:cNvPicPr/>
          <p:nvPr/>
        </p:nvPicPr>
        <p:blipFill>
          <a:blip r:embed="rId5"/>
          <a:stretch/>
        </p:blipFill>
        <p:spPr>
          <a:xfrm rot="10800000">
            <a:off x="8153640" y="7721640"/>
            <a:ext cx="4000320" cy="400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SHN_CONTENT:S006:SOURCE_COMPONENT:8"/>
          <p:cNvPicPr/>
          <p:nvPr/>
        </p:nvPicPr>
        <p:blipFill>
          <a:blip r:embed="rId6"/>
          <a:stretch/>
        </p:blipFill>
        <p:spPr>
          <a:xfrm>
            <a:off x="13538160" y="5092560"/>
            <a:ext cx="125712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SHN_CONTENT:S006:SOURCE_COMPONENT:9"/>
          <p:cNvPicPr/>
          <p:nvPr/>
        </p:nvPicPr>
        <p:blipFill>
          <a:blip r:embed="rId7"/>
          <a:stretch/>
        </p:blipFill>
        <p:spPr>
          <a:xfrm>
            <a:off x="9550440" y="8991720"/>
            <a:ext cx="1333080" cy="133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SHN_CONTENT:S006:source-title"/>
          <p:cNvSpPr/>
          <p:nvPr/>
        </p:nvSpPr>
        <p:spPr>
          <a:xfrm>
            <a:off x="2590920" y="901800"/>
            <a:ext cx="143632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24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309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品質条件</a:t>
            </a:r>
            <a:endParaRPr lang="en-US" sz="3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N_CONTENT:S006:source-message"/>
          <p:cNvSpPr/>
          <p:nvPr/>
        </p:nvSpPr>
        <p:spPr>
          <a:xfrm>
            <a:off x="2590920" y="1409760"/>
            <a:ext cx="143251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00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標準ページの意味ある占有率は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55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〜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85%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とします。</a:t>
            </a:r>
            <a:endParaRPr lang="en-US" sz="2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N_CONTENT:S006:source-page-number"/>
          <p:cNvSpPr/>
          <p:nvPr/>
        </p:nvSpPr>
        <p:spPr>
          <a:xfrm>
            <a:off x="876240" y="787320"/>
            <a:ext cx="13968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7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61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06</a:t>
            </a:r>
            <a:endParaRPr lang="en-US" sz="6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SHN_SOURCE_CHROME:S006:13"/>
          <p:cNvPicPr/>
          <p:nvPr/>
        </p:nvPicPr>
        <p:blipFill>
          <a:blip r:embed="rId8"/>
          <a:stretch/>
        </p:blipFill>
        <p:spPr>
          <a:xfrm>
            <a:off x="20294640" y="1143000"/>
            <a:ext cx="60912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SHN_SOURCE_CHROME:S006:14"/>
          <p:cNvSpPr/>
          <p:nvPr/>
        </p:nvSpPr>
        <p:spPr>
          <a:xfrm>
            <a:off x="20967840" y="1155600"/>
            <a:ext cx="2730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7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SHN_CONTENT:S006:SOURCE_COMPONENT:15"/>
          <p:cNvPicPr/>
          <p:nvPr/>
        </p:nvPicPr>
        <p:blipFill>
          <a:blip r:embed="rId9"/>
          <a:stretch/>
        </p:blipFill>
        <p:spPr>
          <a:xfrm>
            <a:off x="2006640" y="38606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SHN_CONTENT:S006:source-item-1-body"/>
          <p:cNvSpPr/>
          <p:nvPr/>
        </p:nvSpPr>
        <p:spPr>
          <a:xfrm>
            <a:off x="2400480" y="54864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標準ページの意味ある占有率は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55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〜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85%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とします。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SHN_SOURCE_CHROME:S006:17"/>
          <p:cNvPicPr/>
          <p:nvPr/>
        </p:nvPicPr>
        <p:blipFill>
          <a:blip r:embed="rId10"/>
          <a:stretch/>
        </p:blipFill>
        <p:spPr>
          <a:xfrm>
            <a:off x="4140360" y="43815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SHN_CONTENT:S006:source-item-1-heading"/>
          <p:cNvSpPr/>
          <p:nvPr/>
        </p:nvSpPr>
        <p:spPr>
          <a:xfrm>
            <a:off x="3314880" y="482616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意味ある占有率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N_CONTENT:S006:source-item-1-number"/>
          <p:cNvSpPr/>
          <p:nvPr/>
        </p:nvSpPr>
        <p:spPr>
          <a:xfrm>
            <a:off x="4114800" y="44067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SHN_CONTENT:S006:SOURCE_COMPONENT:20"/>
          <p:cNvPicPr/>
          <p:nvPr/>
        </p:nvPicPr>
        <p:blipFill>
          <a:blip r:embed="rId11"/>
          <a:stretch/>
        </p:blipFill>
        <p:spPr>
          <a:xfrm>
            <a:off x="2006640" y="79628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SHN_CONTENT:S006:source-item-3-body"/>
          <p:cNvSpPr/>
          <p:nvPr/>
        </p:nvSpPr>
        <p:spPr>
          <a:xfrm>
            <a:off x="2400480" y="95886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本文文字の下限は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9.5pt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とし、縮小前にページ分割を検討します。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SHN_SOURCE_CHROME:S006:22"/>
          <p:cNvPicPr/>
          <p:nvPr/>
        </p:nvPicPr>
        <p:blipFill>
          <a:blip r:embed="rId12"/>
          <a:stretch/>
        </p:blipFill>
        <p:spPr>
          <a:xfrm>
            <a:off x="4140360" y="84837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SHN_CONTENT:S006:source-item-3-heading"/>
          <p:cNvSpPr/>
          <p:nvPr/>
        </p:nvSpPr>
        <p:spPr>
          <a:xfrm>
            <a:off x="3314880" y="892800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本文文字の下限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N_CONTENT:S006:source-item-3-number"/>
          <p:cNvSpPr/>
          <p:nvPr/>
        </p:nvSpPr>
        <p:spPr>
          <a:xfrm>
            <a:off x="4114800" y="84963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SHN_CONTENT:S006:SOURCE_COMPONENT:25"/>
          <p:cNvPicPr/>
          <p:nvPr/>
        </p:nvPicPr>
        <p:blipFill>
          <a:blip r:embed="rId13"/>
          <a:stretch/>
        </p:blipFill>
        <p:spPr>
          <a:xfrm>
            <a:off x="17564040" y="79628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SHN_CONTENT:S006:source-item-4-body"/>
          <p:cNvSpPr/>
          <p:nvPr/>
        </p:nvSpPr>
        <p:spPr>
          <a:xfrm>
            <a:off x="17945280" y="95886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未解決画像がある状態を完成として扱うことは禁止します。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SHN_SOURCE_CHROME:S006:27"/>
          <p:cNvPicPr/>
          <p:nvPr/>
        </p:nvPicPr>
        <p:blipFill>
          <a:blip r:embed="rId14"/>
          <a:stretch/>
        </p:blipFill>
        <p:spPr>
          <a:xfrm>
            <a:off x="19697760" y="84837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SHN_CONTENT:S006:source-item-4-heading"/>
          <p:cNvSpPr/>
          <p:nvPr/>
        </p:nvSpPr>
        <p:spPr>
          <a:xfrm>
            <a:off x="18859680" y="892800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未解決画像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N_CONTENT:S006:source-item-4-number"/>
          <p:cNvSpPr/>
          <p:nvPr/>
        </p:nvSpPr>
        <p:spPr>
          <a:xfrm>
            <a:off x="19672200" y="84963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SHN_SOURCE_CHROME:S007:0"/>
          <p:cNvPicPr/>
          <p:nvPr/>
        </p:nvPicPr>
        <p:blipFill>
          <a:blip r:embed="rId1"/>
          <a:stretch/>
        </p:blipFill>
        <p:spPr>
          <a:xfrm>
            <a:off x="546120" y="507960"/>
            <a:ext cx="2385036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SHN_CONTENT:S007:SOURCE_COMPONENT:1"/>
          <p:cNvPicPr/>
          <p:nvPr/>
        </p:nvPicPr>
        <p:blipFill>
          <a:blip r:embed="rId2">
            <a:alphaModFix amt="20000"/>
          </a:blip>
          <a:stretch/>
        </p:blipFill>
        <p:spPr>
          <a:xfrm rot="10800000">
            <a:off x="21209400" y="2934000"/>
            <a:ext cx="1879200" cy="163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SHN_CONTENT:S007:source-title"/>
          <p:cNvSpPr/>
          <p:nvPr/>
        </p:nvSpPr>
        <p:spPr>
          <a:xfrm>
            <a:off x="2590920" y="901800"/>
            <a:ext cx="143632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24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3090" b="0" u="none" strike="noStrike">
                <a:solidFill>
                  <a:srgbClr val="000000"/>
                </a:solidFill>
                <a:effectLst/>
                <a:uFillTx/>
                <a:latin typeface="Pretendard JP SemiBold"/>
                <a:ea typeface="Pretendard JP SemiBold"/>
              </a:rPr>
              <a:t>対応する入力形式</a:t>
            </a:r>
            <a:endParaRPr lang="en-US" sz="3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N_CONTENT:S007:source-message"/>
          <p:cNvSpPr/>
          <p:nvPr/>
        </p:nvSpPr>
        <p:spPr>
          <a:xfrm>
            <a:off x="2590920" y="1409760"/>
            <a:ext cx="143251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00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N_CONTENT:S007:source-page-number"/>
          <p:cNvSpPr/>
          <p:nvPr/>
        </p:nvSpPr>
        <p:spPr>
          <a:xfrm>
            <a:off x="876240" y="787320"/>
            <a:ext cx="13968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7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61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07</a:t>
            </a:r>
            <a:endParaRPr lang="en-US" sz="6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SHN_SOURCE_CHROME:S007:5"/>
          <p:cNvPicPr/>
          <p:nvPr/>
        </p:nvPicPr>
        <p:blipFill>
          <a:blip r:embed="rId3"/>
          <a:stretch/>
        </p:blipFill>
        <p:spPr>
          <a:xfrm>
            <a:off x="20294640" y="1143000"/>
            <a:ext cx="60912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SHN_SOURCE_CHROME:S007:6"/>
          <p:cNvSpPr/>
          <p:nvPr/>
        </p:nvSpPr>
        <p:spPr>
          <a:xfrm>
            <a:off x="20967840" y="1155600"/>
            <a:ext cx="2730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7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N_SOURCE_CLEARED:S007:9"/>
          <p:cNvSpPr/>
          <p:nvPr/>
        </p:nvSpPr>
        <p:spPr>
          <a:xfrm>
            <a:off x="12192120" y="5423040"/>
            <a:ext cx="612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N_SOURCE_CLEARED:S007:10"/>
          <p:cNvSpPr/>
          <p:nvPr/>
        </p:nvSpPr>
        <p:spPr>
          <a:xfrm>
            <a:off x="12192120" y="3403440"/>
            <a:ext cx="10616760" cy="17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768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SHN_CONTENT:S007:SOURCE_COMPONENT:9"/>
          <p:cNvPicPr/>
          <p:nvPr/>
        </p:nvPicPr>
        <p:blipFill>
          <a:blip r:embed="rId4"/>
          <a:stretch/>
        </p:blipFill>
        <p:spPr>
          <a:xfrm>
            <a:off x="8394840" y="4711680"/>
            <a:ext cx="130788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SHN_CONTENT:S007:SOURCE_COMPONENT:10"/>
          <p:cNvSpPr/>
          <p:nvPr/>
        </p:nvSpPr>
        <p:spPr>
          <a:xfrm>
            <a:off x="7886880" y="5892840"/>
            <a:ext cx="23238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72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18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18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4" name="SHN_CONTENT:S007-table"/>
          <p:cNvGraphicFramePr/>
          <p:nvPr/>
        </p:nvGraphicFramePr>
        <p:xfrm>
          <a:off x="1341000" y="2811960"/>
          <a:ext cx="21701520" cy="9326520"/>
        </p:xfrm>
        <a:graphic>
          <a:graphicData uri="http://schemas.openxmlformats.org/drawingml/2006/table">
            <a:tbl>
              <a:tblPr/>
              <a:tblGrid>
                <a:gridCol w="7233840"/>
                <a:gridCol w="7233840"/>
                <a:gridCol w="7233840"/>
              </a:tblGrid>
              <a:tr h="1865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etendard JP Medium"/>
                        </a:rPr>
                        <a:t>種別</a:t>
                      </a:r>
                      <a:endParaRPr lang="en-US" sz="2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etendard JP Medium"/>
                        </a:rPr>
                        <a:t>MVP</a:t>
                      </a:r>
                      <a:r>
                        <a:rPr lang="ja-JP" sz="2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etendard JP Medium"/>
                        </a:rPr>
                        <a:t>対応</a:t>
                      </a:r>
                      <a:endParaRPr lang="en-US" sz="2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etendard JP Medium"/>
                        </a:rPr>
                        <a:t>用途</a:t>
                      </a:r>
                      <a:endParaRPr lang="en-US" sz="2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1865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Markdown / TXT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対応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構造化された原稿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65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DOCX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対応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社内文書・提案書原稿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1865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PDF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対応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テキスト抽出可能な参考資料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65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PPTX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対応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既存資料の再構成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N_CONTENT:S008:source-title"/>
          <p:cNvSpPr/>
          <p:nvPr/>
        </p:nvSpPr>
        <p:spPr>
          <a:xfrm>
            <a:off x="1511280" y="3835440"/>
            <a:ext cx="1036296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940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ja-JP" sz="93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次のステップ</a:t>
            </a:r>
            <a:endParaRPr lang="en-US" sz="9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SHN_CONTENT:S008:SOURCE_COMPONENT:1"/>
          <p:cNvPicPr/>
          <p:nvPr/>
        </p:nvPicPr>
        <p:blipFill>
          <a:blip r:embed="rId1"/>
          <a:stretch/>
        </p:blipFill>
        <p:spPr>
          <a:xfrm>
            <a:off x="1511640" y="10972800"/>
            <a:ext cx="7741440" cy="10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SHN_CONTENT:S008:source-body"/>
          <p:cNvSpPr/>
          <p:nvPr/>
        </p:nvSpPr>
        <p:spPr>
          <a:xfrm>
            <a:off x="1731240" y="11109960"/>
            <a:ext cx="73026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ctr">
            <a:noAutofit/>
          </a:bodyPr>
          <a:p>
            <a:pPr defTabSz="914400">
              <a:lnSpc>
                <a:spcPct val="99000"/>
              </a:lnSpc>
            </a:pPr>
            <a:r>
              <a:rPr lang="ja-JP" sz="187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実案件の原稿とテンプレートで代表</a:t>
            </a:r>
            <a:r>
              <a:rPr lang="en-US" sz="187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3</a:t>
            </a:r>
            <a:r>
              <a:rPr lang="ja-JP" sz="187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ページを確認します。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SHN_SOURCE_CHROME:S008:3"/>
          <p:cNvPicPr/>
          <p:nvPr/>
        </p:nvPicPr>
        <p:blipFill>
          <a:blip r:embed="rId2"/>
          <a:stretch/>
        </p:blipFill>
        <p:spPr>
          <a:xfrm>
            <a:off x="1511280" y="3124080"/>
            <a:ext cx="685440" cy="55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SHN_CONTENT:S008:SOURCE_COMPONENT:4"/>
          <p:cNvSpPr/>
          <p:nvPr/>
        </p:nvSpPr>
        <p:spPr>
          <a:xfrm>
            <a:off x="2273400" y="3137040"/>
            <a:ext cx="31111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708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N_SOURCE_CLEARED:S008:5"/>
          <p:cNvSpPr/>
          <p:nvPr/>
        </p:nvSpPr>
        <p:spPr>
          <a:xfrm>
            <a:off x="1562040" y="11887200"/>
            <a:ext cx="247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060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SHN_CONTENT:S008:SOURCE_COMPONENT:6"/>
          <p:cNvPicPr/>
          <p:nvPr/>
        </p:nvPicPr>
        <p:blipFill>
          <a:blip r:embed="rId3"/>
          <a:stretch/>
        </p:blipFill>
        <p:spPr>
          <a:xfrm>
            <a:off x="9863280" y="10972800"/>
            <a:ext cx="7741440" cy="10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SHN_CONTENT:S008:source-actions"/>
          <p:cNvSpPr/>
          <p:nvPr/>
        </p:nvSpPr>
        <p:spPr>
          <a:xfrm>
            <a:off x="10082880" y="11109960"/>
            <a:ext cx="73026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ctr">
            <a:noAutofit/>
          </a:bodyPr>
          <a:p>
            <a:pPr defTabSz="914400">
              <a:lnSpc>
                <a:spcPct val="99000"/>
              </a:lnSpc>
            </a:pPr>
            <a:r>
              <a:rPr lang="ja-JP" sz="187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承認されたレシピとテンプレート解釈だけを全ページへ展開します。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N_SOURCE_CLEARED:S008:8"/>
          <p:cNvSpPr/>
          <p:nvPr/>
        </p:nvSpPr>
        <p:spPr>
          <a:xfrm>
            <a:off x="5384880" y="11887200"/>
            <a:ext cx="3187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060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SHN_SOURCE_CHROME:S008:10"/>
          <p:cNvPicPr/>
          <p:nvPr/>
        </p:nvPicPr>
        <p:blipFill>
          <a:blip r:embed="rId4">
            <a:alphaModFix amt="50000"/>
          </a:blip>
          <a:stretch/>
        </p:blipFill>
        <p:spPr>
          <a:xfrm>
            <a:off x="11861640" y="-2844720"/>
            <a:ext cx="19379880" cy="115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" name="SHN_SOURCE_CHROME:S008:11"/>
          <p:cNvPicPr/>
          <p:nvPr/>
        </p:nvPicPr>
        <p:blipFill>
          <a:blip r:embed="rId5">
            <a:alphaModFix amt="50000"/>
          </a:blip>
          <a:stretch/>
        </p:blipFill>
        <p:spPr>
          <a:xfrm>
            <a:off x="20980440" y="10350360"/>
            <a:ext cx="4330440" cy="18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SHN_SOURCE_CLEARED:S008:12"/>
          <p:cNvSpPr/>
          <p:nvPr/>
        </p:nvSpPr>
        <p:spPr>
          <a:xfrm>
            <a:off x="9321840" y="11315880"/>
            <a:ext cx="29206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N_SOURCE_CLEARED:S008:13"/>
          <p:cNvSpPr/>
          <p:nvPr/>
        </p:nvSpPr>
        <p:spPr>
          <a:xfrm>
            <a:off x="9169560" y="11887200"/>
            <a:ext cx="3187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060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ja-JP</dc:language>
  <cp:lastModifiedBy/>
  <dcterms:modified xsi:type="dcterms:W3CDTF">2011-08-01T06:04:30Z</dcterms:modified>
  <cp:revision>1</cp:revision>
  <dc:subject>Generated by SlideHarness Next greenfield MVP</dc:subject>
  <dc:title>SlideHarness Next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