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62" r:id="rId10"/>
  </p:sldIdLst>
  <p:sldSz cx="24384000" cy="13716000"/>
  <p:notesSz cx="6858000" cy="9144000"/>
  <p:embeddedFontLst>
    <p:embeddedFont>
      <p:font typeface="Pretendard JP Bold"/>
    </p:embeddedFont>
    <p:embeddedFont>
      <p:font typeface="Pretendard JP Medium"/>
    </p:embeddedFont>
    <p:embeddedFont>
      <p:font typeface="Pretendard JP SemiBold"/>
    </p:embeddedFont>
    <p:embeddedFont>
      <p:font typeface="Pretendard JP Regular"/>
    </p:embeddedFont>
    <p:embeddedFont>
      <p:font typeface="游ゴシック体"/>
      <p:regular r:id="rId12"/>
      <p:bold r:id="rId12"/>
    </p:embeddedFont>
    <p:embeddedFont>
      <p:font typeface="Arial Unicode MS"/>
      <p:regular r:id="rId13"/>
      <p:bold r:id="rId13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2" Type="http://schemas.openxmlformats.org/officeDocument/2006/relationships/font" Target="fonts/Font_1_&#28216;&#12468;&#12471;&#12483;&#12463;&#20307;_Regular.fntdata"/><Relationship Id="rId13" Type="http://schemas.openxmlformats.org/officeDocument/2006/relationships/font" Target="fonts/Font_2_Arial_Unicode_MS_Regular.fntdata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fld id="{54DC93AA-FDFE-4BED-BD31-B5913991E3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U-01-0022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対応する入力形式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U-01-0023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対応する入力形式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B03BB0-4E50-4210-A8D1-67C823CA500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DDB601-6E20-41CE-A1AA-1FE44B509A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CF6459-DBA7-43B2-8A0F-1987A7C76B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9F90C5-3ADD-43D7-84DC-C4ED096B63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B2863-4672-46C9-BF71-2483DD50ED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FED588-3C99-449D-94EA-94C3341241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6F2FD6-52DA-40C0-9B25-56D79B1232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F4DF70-AE07-4A5C-A459-E0055CBAB5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EFBD7-7C46-4D14-8461-D71421E464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7E13C5-23F2-47CF-AB84-8FAD549390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591C24-07FC-414C-8D09-3F66F3259E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257262-7707-40A5-B998-FD8E804A44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32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SHN_SOURCE_CHROME:S007:0"/>
          <p:cNvPicPr/>
          <p:nvPr/>
        </p:nvPicPr>
        <p:blipFill>
          <a:blip r:embed="rId1"/>
          <a:stretch/>
        </p:blipFill>
        <p:spPr>
          <a:xfrm>
            <a:off x="546120" y="507960"/>
            <a:ext cx="23850360" cy="135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SHN_CONTENT:S007:SOURCE_COMPONENT:1"/>
          <p:cNvPicPr/>
          <p:nvPr/>
        </p:nvPicPr>
        <p:blipFill>
          <a:blip r:embed="rId2">
            <a:alphaModFix amt="20000"/>
          </a:blip>
          <a:stretch/>
        </p:blipFill>
        <p:spPr>
          <a:xfrm rot="10800000">
            <a:off x="21209400" y="2934000"/>
            <a:ext cx="1879200" cy="163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SHN_CONTENT:S007:source-title"/>
          <p:cNvSpPr/>
          <p:nvPr/>
        </p:nvSpPr>
        <p:spPr>
          <a:xfrm>
            <a:off x="2590920" y="901800"/>
            <a:ext cx="143632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924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3090" b="0" u="none" strike="noStrike">
                <a:solidFill>
                  <a:srgbClr val="000000"/>
                </a:solidFill>
                <a:effectLst/>
                <a:uFillTx/>
                <a:latin typeface="Pretendard JP SemiBold"/>
                <a:ea typeface="Pretendard JP SemiBold"/>
              </a:rPr>
              <a:t>対応する入力形式</a:t>
            </a:r>
            <a:endParaRPr lang="en-US" sz="3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N_CONTENT:S007:source-message"/>
          <p:cNvSpPr/>
          <p:nvPr/>
        </p:nvSpPr>
        <p:spPr>
          <a:xfrm>
            <a:off x="2590920" y="1409760"/>
            <a:ext cx="143251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700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N_CONTENT:S007:source-page-number"/>
          <p:cNvSpPr/>
          <p:nvPr/>
        </p:nvSpPr>
        <p:spPr>
          <a:xfrm>
            <a:off x="876240" y="787320"/>
            <a:ext cx="139680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77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613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07</a:t>
            </a:r>
            <a:endParaRPr lang="en-US" sz="6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8" name="SHN_SOURCE_CHROME:S007:5"/>
          <p:cNvPicPr/>
          <p:nvPr/>
        </p:nvPicPr>
        <p:blipFill>
          <a:blip r:embed="rId3"/>
          <a:stretch/>
        </p:blipFill>
        <p:spPr>
          <a:xfrm>
            <a:off x="20294640" y="1143000"/>
            <a:ext cx="60912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SHN_SOURCE_CHROME:S007:6"/>
          <p:cNvSpPr/>
          <p:nvPr/>
        </p:nvSpPr>
        <p:spPr>
          <a:xfrm>
            <a:off x="20967840" y="1155600"/>
            <a:ext cx="273024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7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N_SOURCE_CLEARED:S007:9"/>
          <p:cNvSpPr/>
          <p:nvPr/>
        </p:nvSpPr>
        <p:spPr>
          <a:xfrm>
            <a:off x="12192120" y="5423040"/>
            <a:ext cx="612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N_SOURCE_CLEARED:S007:10"/>
          <p:cNvSpPr/>
          <p:nvPr/>
        </p:nvSpPr>
        <p:spPr>
          <a:xfrm>
            <a:off x="12192120" y="3403440"/>
            <a:ext cx="10616760" cy="17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768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SHN_CONTENT:S007:SOURCE_COMPONENT:9"/>
          <p:cNvPicPr/>
          <p:nvPr/>
        </p:nvPicPr>
        <p:blipFill>
          <a:blip r:embed="rId4"/>
          <a:stretch/>
        </p:blipFill>
        <p:spPr>
          <a:xfrm>
            <a:off x="8394840" y="4711680"/>
            <a:ext cx="1307880" cy="105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SHN_CONTENT:S007:SOURCE_COMPONENT:10"/>
          <p:cNvSpPr/>
          <p:nvPr/>
        </p:nvSpPr>
        <p:spPr>
          <a:xfrm>
            <a:off x="7886880" y="5892840"/>
            <a:ext cx="23238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772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218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180" b="0" u="none" strike="noStrike">
                <a:solidFill>
                  <a:srgbClr val="FFFFFF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4" name="SHN_CONTENT:S007-table"/>
          <p:cNvGraphicFramePr/>
          <p:nvPr/>
        </p:nvGraphicFramePr>
        <p:xfrm>
          <a:off x="1341000" y="2811960"/>
          <a:ext cx="21701520" cy="9326520"/>
        </p:xfrm>
        <a:graphic>
          <a:graphicData uri="http://schemas.openxmlformats.org/drawingml/2006/table">
            <a:tbl>
              <a:tblPr/>
              <a:tblGrid>
                <a:gridCol w="7233840"/>
                <a:gridCol w="7233840"/>
                <a:gridCol w="7233840"/>
              </a:tblGrid>
              <a:tr h="18651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ja-JP" sz="2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etendard JP Medium"/>
                        </a:rPr>
                        <a:t>種別</a:t>
                      </a:r>
                      <a:endParaRPr lang="en-US" sz="2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etendard JP Medium"/>
                        </a:rPr>
                        <a:t>MVP</a:t>
                      </a:r>
                      <a:r>
                        <a:rPr lang="ja-JP" sz="2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etendard JP Medium"/>
                        </a:rPr>
                        <a:t>対応</a:t>
                      </a:r>
                      <a:endParaRPr lang="en-US" sz="2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ja-JP" sz="2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etendard JP Medium"/>
                        </a:rPr>
                        <a:t>用途</a:t>
                      </a:r>
                      <a:endParaRPr lang="en-US" sz="2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18651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Markdown / TXT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対応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構造化された原稿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651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DOCX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対応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社内文書・提案書原稿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  <a:tr h="18651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PDF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対応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テキスト抽出可能な参考資料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651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PPTX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対応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ja-JP" sz="2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etendard JP Medium"/>
                        </a:rPr>
                        <a:t>既存資料の再構成</a:t>
                      </a:r>
                      <a:endParaRPr lang="en-US" sz="2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ja-JP</dc:language>
  <cp:lastModifiedBy/>
  <dcterms:modified xsi:type="dcterms:W3CDTF">2011-08-01T06:04:30Z</dcterms:modified>
  <cp:revision>1</cp:revision>
  <dc:subject>Generated by SlideHarness Next greenfield MVP</dc:subject>
  <dc:title>SlideHarness Next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